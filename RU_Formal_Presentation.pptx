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3360">
          <p15:clr>
            <a:srgbClr val="A4A3A4"/>
          </p15:clr>
        </p15:guide>
        <p15:guide id="2" pos="3840">
          <p15:clr>
            <a:srgbClr val="A4A3A4"/>
          </p15:clr>
        </p15:guide>
      </p15:sldGuideLst>
    </p:ext>
    <p:ext uri="GoogleSlidesCustomDataVersion2">
      <go:slidesCustomData xmlns:go="http://customooxmlschemas.google.com/" r:id="rId27" roundtripDataSignature="AMtx7mgP/n56TUGW3OoMYbJdcoqQ9AIDx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33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7"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8" name="Google Shape;88;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89" name="Google Shape;89;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5" name="Google Shape;95;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96" name="Google Shape;96;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4" name="Google Shape;104;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05" name="Google Shape;105;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1" name="Google Shape;121;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22" name="Google Shape;122;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0" name="Google Shape;130;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31" name="Google Shape;131;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9" name="Google Shape;139;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40" name="Google Shape;140;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8" name="Google Shape;14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49" name="Google Shape;14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7" name="Google Shape;157;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58" name="Google Shape;158;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6" name="Google Shape;16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67" name="Google Shape;16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5" name="Google Shape;175;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76" name="Google Shape;176;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4" name="Google Shape;184;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85" name="Google Shape;185;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3" name="Google Shape;193;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194" name="Google Shape;194;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2" name="Google Shape;202;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03" name="Google Shape;203;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12" name="Google Shape;212;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0" name="Google Shape;220;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21" name="Google Shape;221;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31" name="Google Shape;231;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40" name="Google Shape;240;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49" name="Google Shape;249;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7" name="Google Shape;257;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58" name="Google Shape;258;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6" name="Google Shape;266;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b="0" i="0" sz="1200" u="none" cap="none" strike="noStrike">
              <a:solidFill>
                <a:schemeClr val="dk1"/>
              </a:solidFill>
              <a:latin typeface="Arial"/>
              <a:ea typeface="Arial"/>
              <a:cs typeface="Arial"/>
              <a:sym typeface="Arial"/>
            </a:endParaRPr>
          </a:p>
        </p:txBody>
      </p:sp>
      <p:sp>
        <p:nvSpPr>
          <p:cNvPr id="267" name="Google Shape;267;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 Id="rId3"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8.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 Id="rId3" Type="http://schemas.openxmlformats.org/officeDocument/2006/relationships/image" Target="../media/image1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 Id="rId3"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 1">
  <p:cSld name="标题 1">
    <p:bg>
      <p:bgPr>
        <a:solidFill>
          <a:schemeClr val="dk1"/>
        </a:solidFill>
      </p:bgPr>
    </p:bg>
    <p:spTree>
      <p:nvGrpSpPr>
        <p:cNvPr id="15" name="Shape 15"/>
        <p:cNvGrpSpPr/>
        <p:nvPr/>
      </p:nvGrpSpPr>
      <p:grpSpPr>
        <a:xfrm>
          <a:off x="0" y="0"/>
          <a:ext cx="0" cy="0"/>
          <a:chOff x="0" y="0"/>
          <a:chExt cx="0" cy="0"/>
        </a:xfrm>
      </p:grpSpPr>
      <p:sp>
        <p:nvSpPr>
          <p:cNvPr id="16" name="Google Shape;16;p23"/>
          <p:cNvSpPr txBox="1"/>
          <p:nvPr>
            <p:ph type="title"/>
          </p:nvPr>
        </p:nvSpPr>
        <p:spPr>
          <a:xfrm>
            <a:off x="6096000" y="2773681"/>
            <a:ext cx="5674360" cy="32004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pic>
        <p:nvPicPr>
          <p:cNvPr id="17" name="Google Shape;17;p23"/>
          <p:cNvPicPr preferRelativeResize="0"/>
          <p:nvPr/>
        </p:nvPicPr>
        <p:blipFill rotWithShape="1">
          <a:blip r:embed="rId2">
            <a:alphaModFix/>
          </a:blip>
          <a:srcRect b="0" l="18454" r="0" t="1728"/>
          <a:stretch/>
        </p:blipFill>
        <p:spPr>
          <a:xfrm>
            <a:off x="-1" y="0"/>
            <a:ext cx="8264995" cy="532014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介绍">
  <p:cSld name="介绍">
    <p:spTree>
      <p:nvGrpSpPr>
        <p:cNvPr id="18" name="Shape 18"/>
        <p:cNvGrpSpPr/>
        <p:nvPr/>
      </p:nvGrpSpPr>
      <p:grpSpPr>
        <a:xfrm>
          <a:off x="0" y="0"/>
          <a:ext cx="0" cy="0"/>
          <a:chOff x="0" y="0"/>
          <a:chExt cx="0" cy="0"/>
        </a:xfrm>
      </p:grpSpPr>
      <p:pic>
        <p:nvPicPr>
          <p:cNvPr id="19" name="Google Shape;19;p24"/>
          <p:cNvPicPr preferRelativeResize="0"/>
          <p:nvPr/>
        </p:nvPicPr>
        <p:blipFill rotWithShape="1">
          <a:blip r:embed="rId2">
            <a:alphaModFix/>
          </a:blip>
          <a:srcRect b="-131" l="44533" r="1" t="18691"/>
          <a:stretch/>
        </p:blipFill>
        <p:spPr>
          <a:xfrm rot="5400000">
            <a:off x="7851419" y="-1244552"/>
            <a:ext cx="3096029" cy="5585137"/>
          </a:xfrm>
          <a:custGeom>
            <a:rect b="b" l="l" r="r" t="t"/>
            <a:pathLst>
              <a:path extrusionOk="0" h="6858000" w="1756624">
                <a:moveTo>
                  <a:pt x="0" y="0"/>
                </a:moveTo>
                <a:lnTo>
                  <a:pt x="1756624" y="0"/>
                </a:lnTo>
                <a:lnTo>
                  <a:pt x="1756624" y="6858000"/>
                </a:lnTo>
                <a:lnTo>
                  <a:pt x="0" y="6858000"/>
                </a:lnTo>
                <a:close/>
              </a:path>
            </a:pathLst>
          </a:custGeom>
          <a:noFill/>
          <a:ln>
            <a:noFill/>
          </a:ln>
        </p:spPr>
      </p:pic>
      <p:pic>
        <p:nvPicPr>
          <p:cNvPr id="20" name="Google Shape;20;p24"/>
          <p:cNvPicPr preferRelativeResize="0"/>
          <p:nvPr/>
        </p:nvPicPr>
        <p:blipFill rotWithShape="1">
          <a:blip r:embed="rId3">
            <a:alphaModFix/>
          </a:blip>
          <a:srcRect b="0" l="4151" r="18577" t="0"/>
          <a:stretch/>
        </p:blipFill>
        <p:spPr>
          <a:xfrm>
            <a:off x="7010400" y="0"/>
            <a:ext cx="5181600" cy="6858000"/>
          </a:xfrm>
          <a:prstGeom prst="rect">
            <a:avLst/>
          </a:prstGeom>
          <a:noFill/>
          <a:ln>
            <a:noFill/>
          </a:ln>
        </p:spPr>
      </p:pic>
      <p:sp>
        <p:nvSpPr>
          <p:cNvPr id="21" name="Google Shape;21;p24"/>
          <p:cNvSpPr txBox="1"/>
          <p:nvPr>
            <p:ph type="title"/>
          </p:nvPr>
        </p:nvSpPr>
        <p:spPr>
          <a:xfrm>
            <a:off x="914400" y="315533"/>
            <a:ext cx="5181600" cy="237686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4"/>
          <p:cNvSpPr txBox="1"/>
          <p:nvPr>
            <p:ph idx="1" type="body"/>
          </p:nvPr>
        </p:nvSpPr>
        <p:spPr>
          <a:xfrm>
            <a:off x="914400" y="2844800"/>
            <a:ext cx="5181600" cy="3128963"/>
          </a:xfrm>
          <a:prstGeom prst="rect">
            <a:avLst/>
          </a:prstGeom>
          <a:noFill/>
          <a:ln>
            <a:noFill/>
          </a:ln>
        </p:spPr>
        <p:txBody>
          <a:bodyPr anchorCtr="0" anchor="t" bIns="45700" lIns="91425" spcFirstLastPara="1" rIns="91425" wrap="square" tIns="45700">
            <a:normAutofit/>
          </a:bodyPr>
          <a:lstStyle>
            <a:lvl1pPr indent="-228600" lvl="0" marL="457200" algn="l">
              <a:lnSpc>
                <a:spcPct val="120000"/>
              </a:lnSpc>
              <a:spcBef>
                <a:spcPts val="1000"/>
              </a:spcBef>
              <a:spcAft>
                <a:spcPts val="0"/>
              </a:spcAft>
              <a:buClr>
                <a:schemeClr val="dk1"/>
              </a:buClr>
              <a:buSzPts val="2000"/>
              <a:buNone/>
              <a:defRPr sz="2000"/>
            </a:lvl1pPr>
            <a:lvl2pPr indent="-342900" lvl="1" marL="914400" algn="l">
              <a:lnSpc>
                <a:spcPct val="120000"/>
              </a:lnSpc>
              <a:spcBef>
                <a:spcPts val="500"/>
              </a:spcBef>
              <a:spcAft>
                <a:spcPts val="0"/>
              </a:spcAft>
              <a:buClr>
                <a:schemeClr val="dk1"/>
              </a:buClr>
              <a:buSzPts val="1800"/>
              <a:buChar char="•"/>
              <a:defRPr sz="1800"/>
            </a:lvl2pPr>
            <a:lvl3pPr indent="-330200" lvl="2" marL="1371600" algn="l">
              <a:lnSpc>
                <a:spcPct val="120000"/>
              </a:lnSpc>
              <a:spcBef>
                <a:spcPts val="500"/>
              </a:spcBef>
              <a:spcAft>
                <a:spcPts val="0"/>
              </a:spcAft>
              <a:buClr>
                <a:schemeClr val="dk1"/>
              </a:buClr>
              <a:buSzPts val="1600"/>
              <a:buChar char="•"/>
              <a:defRPr sz="1600"/>
            </a:lvl3pPr>
            <a:lvl4pPr indent="-317500" lvl="3" marL="1828800" algn="l">
              <a:lnSpc>
                <a:spcPct val="120000"/>
              </a:lnSpc>
              <a:spcBef>
                <a:spcPts val="500"/>
              </a:spcBef>
              <a:spcAft>
                <a:spcPts val="0"/>
              </a:spcAft>
              <a:buClr>
                <a:schemeClr val="dk1"/>
              </a:buClr>
              <a:buSzPts val="1400"/>
              <a:buChar char="•"/>
              <a:defRPr sz="1400"/>
            </a:lvl4pPr>
            <a:lvl5pPr indent="-317500" lvl="4" marL="2286000" algn="l">
              <a:lnSpc>
                <a:spcPct val="120000"/>
              </a:lnSpc>
              <a:spcBef>
                <a:spcPts val="500"/>
              </a:spcBef>
              <a:spcAft>
                <a:spcPts val="0"/>
              </a:spcAft>
              <a:buClr>
                <a:schemeClr val="dk1"/>
              </a:buClr>
              <a:buSzPts val="1400"/>
              <a:buChar char="•"/>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4"/>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p:cSld name="节标题">
    <p:bg>
      <p:bgPr>
        <a:solidFill>
          <a:schemeClr val="dk1"/>
        </a:solidFill>
      </p:bgPr>
    </p:bg>
    <p:spTree>
      <p:nvGrpSpPr>
        <p:cNvPr id="24" name="Shape 24"/>
        <p:cNvGrpSpPr/>
        <p:nvPr/>
      </p:nvGrpSpPr>
      <p:grpSpPr>
        <a:xfrm>
          <a:off x="0" y="0"/>
          <a:ext cx="0" cy="0"/>
          <a:chOff x="0" y="0"/>
          <a:chExt cx="0" cy="0"/>
        </a:xfrm>
      </p:grpSpPr>
      <p:pic>
        <p:nvPicPr>
          <p:cNvPr id="25" name="Google Shape;25;p25"/>
          <p:cNvPicPr preferRelativeResize="0"/>
          <p:nvPr/>
        </p:nvPicPr>
        <p:blipFill rotWithShape="1">
          <a:blip r:embed="rId2">
            <a:alphaModFix/>
          </a:blip>
          <a:srcRect b="0" l="13300" r="0" t="13815"/>
          <a:stretch/>
        </p:blipFill>
        <p:spPr>
          <a:xfrm>
            <a:off x="0" y="-1"/>
            <a:ext cx="4239206" cy="3776193"/>
          </a:xfrm>
          <a:prstGeom prst="rect">
            <a:avLst/>
          </a:prstGeom>
          <a:noFill/>
          <a:ln>
            <a:noFill/>
          </a:ln>
        </p:spPr>
      </p:pic>
      <p:sp>
        <p:nvSpPr>
          <p:cNvPr id="26" name="Google Shape;26;p25"/>
          <p:cNvSpPr txBox="1"/>
          <p:nvPr>
            <p:ph type="title"/>
          </p:nvPr>
        </p:nvSpPr>
        <p:spPr>
          <a:xfrm>
            <a:off x="914400" y="2580640"/>
            <a:ext cx="5181600" cy="336881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5"/>
          <p:cNvSpPr/>
          <p:nvPr>
            <p:ph idx="2" type="pic"/>
          </p:nvPr>
        </p:nvSpPr>
        <p:spPr>
          <a:xfrm>
            <a:off x="6085840" y="-10159"/>
            <a:ext cx="6116320" cy="6868160"/>
          </a:xfrm>
          <a:prstGeom prst="rect">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p:cSld name="标题和内容">
    <p:spTree>
      <p:nvGrpSpPr>
        <p:cNvPr id="28" name="Shape 28"/>
        <p:cNvGrpSpPr/>
        <p:nvPr/>
      </p:nvGrpSpPr>
      <p:grpSpPr>
        <a:xfrm>
          <a:off x="0" y="0"/>
          <a:ext cx="0" cy="0"/>
          <a:chOff x="0" y="0"/>
          <a:chExt cx="0" cy="0"/>
        </a:xfrm>
      </p:grpSpPr>
      <p:pic>
        <p:nvPicPr>
          <p:cNvPr id="29" name="Google Shape;29;p26"/>
          <p:cNvPicPr preferRelativeResize="0"/>
          <p:nvPr/>
        </p:nvPicPr>
        <p:blipFill rotWithShape="1">
          <a:blip r:embed="rId2">
            <a:alphaModFix/>
          </a:blip>
          <a:srcRect b="0" l="45239" r="0" t="0"/>
          <a:stretch/>
        </p:blipFill>
        <p:spPr>
          <a:xfrm flipH="1">
            <a:off x="9135414" y="0"/>
            <a:ext cx="3056586" cy="6858000"/>
          </a:xfrm>
          <a:custGeom>
            <a:rect b="b" l="l" r="r" t="t"/>
            <a:pathLst>
              <a:path extrusionOk="0" h="6858000" w="4284372">
                <a:moveTo>
                  <a:pt x="4284372" y="0"/>
                </a:moveTo>
                <a:lnTo>
                  <a:pt x="0" y="0"/>
                </a:lnTo>
                <a:lnTo>
                  <a:pt x="0" y="6858000"/>
                </a:lnTo>
                <a:lnTo>
                  <a:pt x="4284372" y="6858000"/>
                </a:lnTo>
                <a:close/>
              </a:path>
            </a:pathLst>
          </a:custGeom>
          <a:noFill/>
          <a:ln>
            <a:noFill/>
          </a:ln>
        </p:spPr>
      </p:pic>
      <p:pic>
        <p:nvPicPr>
          <p:cNvPr id="30" name="Google Shape;30;p26"/>
          <p:cNvPicPr preferRelativeResize="0"/>
          <p:nvPr/>
        </p:nvPicPr>
        <p:blipFill rotWithShape="1">
          <a:blip r:embed="rId3">
            <a:alphaModFix/>
          </a:blip>
          <a:srcRect b="2330" l="0" r="0" t="0"/>
          <a:stretch/>
        </p:blipFill>
        <p:spPr>
          <a:xfrm>
            <a:off x="7810500" y="3025140"/>
            <a:ext cx="4381500" cy="3832860"/>
          </a:xfrm>
          <a:prstGeom prst="rect">
            <a:avLst/>
          </a:prstGeom>
          <a:noFill/>
          <a:ln>
            <a:noFill/>
          </a:ln>
        </p:spPr>
      </p:pic>
      <p:sp>
        <p:nvSpPr>
          <p:cNvPr id="31" name="Google Shape;31;p26"/>
          <p:cNvSpPr txBox="1"/>
          <p:nvPr>
            <p:ph type="title"/>
          </p:nvPr>
        </p:nvSpPr>
        <p:spPr>
          <a:xfrm>
            <a:off x="914399" y="365125"/>
            <a:ext cx="7273637" cy="164655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6"/>
          <p:cNvSpPr txBox="1"/>
          <p:nvPr>
            <p:ph idx="1" type="body"/>
          </p:nvPr>
        </p:nvSpPr>
        <p:spPr>
          <a:xfrm>
            <a:off x="914399" y="2011363"/>
            <a:ext cx="7273638" cy="4155757"/>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sz="2000"/>
            </a:lvl1pPr>
            <a:lvl2pPr indent="-342900" lvl="1" marL="914400" algn="l">
              <a:lnSpc>
                <a:spcPct val="90000"/>
              </a:lnSpc>
              <a:spcBef>
                <a:spcPts val="1200"/>
              </a:spcBef>
              <a:spcAft>
                <a:spcPts val="0"/>
              </a:spcAft>
              <a:buClr>
                <a:schemeClr val="dk1"/>
              </a:buClr>
              <a:buSzPts val="1800"/>
              <a:buChar char="•"/>
              <a:defRPr sz="1800"/>
            </a:lvl2pPr>
            <a:lvl3pPr indent="-330200" lvl="2" marL="1371600" algn="l">
              <a:lnSpc>
                <a:spcPct val="90000"/>
              </a:lnSpc>
              <a:spcBef>
                <a:spcPts val="1200"/>
              </a:spcBef>
              <a:spcAft>
                <a:spcPts val="0"/>
              </a:spcAft>
              <a:buClr>
                <a:schemeClr val="dk1"/>
              </a:buClr>
              <a:buSzPts val="1600"/>
              <a:buChar char="•"/>
              <a:defRPr sz="1600"/>
            </a:lvl3pPr>
            <a:lvl4pPr indent="-317500" lvl="3" marL="1828800" algn="l">
              <a:lnSpc>
                <a:spcPct val="90000"/>
              </a:lnSpc>
              <a:spcBef>
                <a:spcPts val="1200"/>
              </a:spcBef>
              <a:spcAft>
                <a:spcPts val="0"/>
              </a:spcAft>
              <a:buClr>
                <a:schemeClr val="dk1"/>
              </a:buClr>
              <a:buSzPts val="1400"/>
              <a:buChar char="•"/>
              <a:defRPr sz="1400"/>
            </a:lvl4pPr>
            <a:lvl5pPr indent="-317500" lvl="4" marL="2286000" algn="l">
              <a:lnSpc>
                <a:spcPct val="90000"/>
              </a:lnSpc>
              <a:spcBef>
                <a:spcPts val="1200"/>
              </a:spcBef>
              <a:spcAft>
                <a:spcPts val="0"/>
              </a:spcAft>
              <a:buClr>
                <a:schemeClr val="dk1"/>
              </a:buClr>
              <a:buSzPts val="1400"/>
              <a:buChar char="•"/>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26"/>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两栏内容 1">
  <p:cSld name="标题和两栏内容 1">
    <p:bg>
      <p:bgPr>
        <a:solidFill>
          <a:schemeClr val="accent1"/>
        </a:solidFill>
      </p:bgPr>
    </p:bg>
    <p:spTree>
      <p:nvGrpSpPr>
        <p:cNvPr id="34" name="Shape 34"/>
        <p:cNvGrpSpPr/>
        <p:nvPr/>
      </p:nvGrpSpPr>
      <p:grpSpPr>
        <a:xfrm>
          <a:off x="0" y="0"/>
          <a:ext cx="0" cy="0"/>
          <a:chOff x="0" y="0"/>
          <a:chExt cx="0" cy="0"/>
        </a:xfrm>
      </p:grpSpPr>
      <p:pic>
        <p:nvPicPr>
          <p:cNvPr id="35" name="Google Shape;35;p27"/>
          <p:cNvPicPr preferRelativeResize="0"/>
          <p:nvPr/>
        </p:nvPicPr>
        <p:blipFill rotWithShape="1">
          <a:blip r:embed="rId2">
            <a:alphaModFix/>
          </a:blip>
          <a:srcRect b="33420" l="1955" r="53993" t="41988"/>
          <a:stretch/>
        </p:blipFill>
        <p:spPr>
          <a:xfrm rot="10800000">
            <a:off x="9198864" y="-5"/>
            <a:ext cx="2993136" cy="1517907"/>
          </a:xfrm>
          <a:prstGeom prst="rect">
            <a:avLst/>
          </a:prstGeom>
          <a:noFill/>
          <a:ln>
            <a:noFill/>
          </a:ln>
        </p:spPr>
      </p:pic>
      <p:pic>
        <p:nvPicPr>
          <p:cNvPr id="36" name="Google Shape;36;p27"/>
          <p:cNvPicPr preferRelativeResize="0"/>
          <p:nvPr/>
        </p:nvPicPr>
        <p:blipFill rotWithShape="1">
          <a:blip r:embed="rId3">
            <a:alphaModFix/>
          </a:blip>
          <a:srcRect b="0" l="25445" r="46503" t="24819"/>
          <a:stretch/>
        </p:blipFill>
        <p:spPr>
          <a:xfrm rot="-5400000">
            <a:off x="961221" y="4525179"/>
            <a:ext cx="1371600" cy="3294042"/>
          </a:xfrm>
          <a:prstGeom prst="rect">
            <a:avLst/>
          </a:prstGeom>
          <a:noFill/>
          <a:ln>
            <a:noFill/>
          </a:ln>
        </p:spPr>
      </p:pic>
      <p:sp>
        <p:nvSpPr>
          <p:cNvPr id="37" name="Google Shape;37;p27"/>
          <p:cNvSpPr txBox="1"/>
          <p:nvPr>
            <p:ph type="title"/>
          </p:nvPr>
        </p:nvSpPr>
        <p:spPr>
          <a:xfrm>
            <a:off x="914399" y="365125"/>
            <a:ext cx="10363201" cy="162960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914399" y="2022250"/>
            <a:ext cx="4992709" cy="374718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sz="2000"/>
            </a:lvl1pPr>
            <a:lvl2pPr indent="-342900" lvl="1" marL="914400" algn="l">
              <a:lnSpc>
                <a:spcPct val="90000"/>
              </a:lnSpc>
              <a:spcBef>
                <a:spcPts val="1200"/>
              </a:spcBef>
              <a:spcAft>
                <a:spcPts val="0"/>
              </a:spcAft>
              <a:buClr>
                <a:schemeClr val="dk1"/>
              </a:buClr>
              <a:buSzPts val="1800"/>
              <a:buChar char="•"/>
              <a:defRPr sz="1800"/>
            </a:lvl2pPr>
            <a:lvl3pPr indent="-330200" lvl="2" marL="1371600" algn="l">
              <a:lnSpc>
                <a:spcPct val="90000"/>
              </a:lnSpc>
              <a:spcBef>
                <a:spcPts val="1200"/>
              </a:spcBef>
              <a:spcAft>
                <a:spcPts val="0"/>
              </a:spcAft>
              <a:buClr>
                <a:schemeClr val="dk1"/>
              </a:buClr>
              <a:buSzPts val="1600"/>
              <a:buChar char="•"/>
              <a:defRPr sz="1600"/>
            </a:lvl3pPr>
            <a:lvl4pPr indent="-317500" lvl="3" marL="1828800" algn="l">
              <a:lnSpc>
                <a:spcPct val="90000"/>
              </a:lnSpc>
              <a:spcBef>
                <a:spcPts val="1200"/>
              </a:spcBef>
              <a:spcAft>
                <a:spcPts val="0"/>
              </a:spcAft>
              <a:buClr>
                <a:schemeClr val="dk1"/>
              </a:buClr>
              <a:buSzPts val="1400"/>
              <a:buChar char="•"/>
              <a:defRPr sz="1400"/>
            </a:lvl4pPr>
            <a:lvl5pPr indent="-317500" lvl="4" marL="2286000" algn="l">
              <a:lnSpc>
                <a:spcPct val="90000"/>
              </a:lnSpc>
              <a:spcBef>
                <a:spcPts val="1200"/>
              </a:spcBef>
              <a:spcAft>
                <a:spcPts val="0"/>
              </a:spcAft>
              <a:buClr>
                <a:schemeClr val="dk1"/>
              </a:buClr>
              <a:buSzPts val="1400"/>
              <a:buChar char="•"/>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9" name="Google Shape;39;p27"/>
          <p:cNvSpPr txBox="1"/>
          <p:nvPr>
            <p:ph idx="2" type="body"/>
          </p:nvPr>
        </p:nvSpPr>
        <p:spPr>
          <a:xfrm>
            <a:off x="6284891" y="2022250"/>
            <a:ext cx="4992709" cy="374718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sz="2000"/>
            </a:lvl1pPr>
            <a:lvl2pPr indent="-342900" lvl="1" marL="914400" algn="l">
              <a:lnSpc>
                <a:spcPct val="90000"/>
              </a:lnSpc>
              <a:spcBef>
                <a:spcPts val="1200"/>
              </a:spcBef>
              <a:spcAft>
                <a:spcPts val="0"/>
              </a:spcAft>
              <a:buClr>
                <a:schemeClr val="dk1"/>
              </a:buClr>
              <a:buSzPts val="1800"/>
              <a:buChar char="•"/>
              <a:defRPr sz="1800"/>
            </a:lvl2pPr>
            <a:lvl3pPr indent="-330200" lvl="2" marL="1371600" algn="l">
              <a:lnSpc>
                <a:spcPct val="90000"/>
              </a:lnSpc>
              <a:spcBef>
                <a:spcPts val="1200"/>
              </a:spcBef>
              <a:spcAft>
                <a:spcPts val="0"/>
              </a:spcAft>
              <a:buClr>
                <a:schemeClr val="dk1"/>
              </a:buClr>
              <a:buSzPts val="1600"/>
              <a:buChar char="•"/>
              <a:defRPr sz="1600"/>
            </a:lvl3pPr>
            <a:lvl4pPr indent="-317500" lvl="3" marL="1828800" algn="l">
              <a:lnSpc>
                <a:spcPct val="90000"/>
              </a:lnSpc>
              <a:spcBef>
                <a:spcPts val="1200"/>
              </a:spcBef>
              <a:spcAft>
                <a:spcPts val="0"/>
              </a:spcAft>
              <a:buClr>
                <a:schemeClr val="dk1"/>
              </a:buClr>
              <a:buSzPts val="1400"/>
              <a:buChar char="•"/>
              <a:defRPr sz="1400"/>
            </a:lvl4pPr>
            <a:lvl5pPr indent="-317500" lvl="4" marL="2286000" algn="l">
              <a:lnSpc>
                <a:spcPct val="90000"/>
              </a:lnSpc>
              <a:spcBef>
                <a:spcPts val="1200"/>
              </a:spcBef>
              <a:spcAft>
                <a:spcPts val="0"/>
              </a:spcAft>
              <a:buClr>
                <a:schemeClr val="dk1"/>
              </a:buClr>
              <a:buSzPts val="1400"/>
              <a:buChar char="•"/>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7"/>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两栏内容 2">
  <p:cSld name="标题和两栏内容 2">
    <p:spTree>
      <p:nvGrpSpPr>
        <p:cNvPr id="41" name="Shape 41"/>
        <p:cNvGrpSpPr/>
        <p:nvPr/>
      </p:nvGrpSpPr>
      <p:grpSpPr>
        <a:xfrm>
          <a:off x="0" y="0"/>
          <a:ext cx="0" cy="0"/>
          <a:chOff x="0" y="0"/>
          <a:chExt cx="0" cy="0"/>
        </a:xfrm>
      </p:grpSpPr>
      <p:pic>
        <p:nvPicPr>
          <p:cNvPr id="42" name="Google Shape;42;p28"/>
          <p:cNvPicPr preferRelativeResize="0"/>
          <p:nvPr/>
        </p:nvPicPr>
        <p:blipFill rotWithShape="1">
          <a:blip r:embed="rId2">
            <a:alphaModFix/>
          </a:blip>
          <a:srcRect b="44471" l="1981" r="61027" t="40714"/>
          <a:stretch/>
        </p:blipFill>
        <p:spPr>
          <a:xfrm flipH="1">
            <a:off x="-26830" y="5950040"/>
            <a:ext cx="2513521" cy="914400"/>
          </a:xfrm>
          <a:prstGeom prst="rect">
            <a:avLst/>
          </a:prstGeom>
          <a:noFill/>
          <a:ln>
            <a:noFill/>
          </a:ln>
        </p:spPr>
      </p:pic>
      <p:pic>
        <p:nvPicPr>
          <p:cNvPr id="43" name="Google Shape;43;p28"/>
          <p:cNvPicPr preferRelativeResize="0"/>
          <p:nvPr/>
        </p:nvPicPr>
        <p:blipFill rotWithShape="1">
          <a:blip r:embed="rId3">
            <a:alphaModFix/>
          </a:blip>
          <a:srcRect b="0" l="18883" r="46636" t="18052"/>
          <a:stretch/>
        </p:blipFill>
        <p:spPr>
          <a:xfrm rot="5400000">
            <a:off x="9553763" y="-952310"/>
            <a:ext cx="1685928" cy="3590547"/>
          </a:xfrm>
          <a:prstGeom prst="rect">
            <a:avLst/>
          </a:prstGeom>
          <a:noFill/>
          <a:ln>
            <a:noFill/>
          </a:ln>
        </p:spPr>
      </p:pic>
      <p:sp>
        <p:nvSpPr>
          <p:cNvPr id="44" name="Google Shape;44;p28"/>
          <p:cNvSpPr txBox="1"/>
          <p:nvPr>
            <p:ph type="title"/>
          </p:nvPr>
        </p:nvSpPr>
        <p:spPr>
          <a:xfrm>
            <a:off x="914398" y="365125"/>
            <a:ext cx="10439401" cy="161701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28"/>
          <p:cNvSpPr txBox="1"/>
          <p:nvPr>
            <p:ph idx="1" type="body"/>
          </p:nvPr>
        </p:nvSpPr>
        <p:spPr>
          <a:xfrm>
            <a:off x="914399" y="2022250"/>
            <a:ext cx="3310129" cy="374718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b="1" sz="2000"/>
            </a:lvl1pPr>
            <a:lvl2pPr indent="-342900" lvl="1" marL="914400" algn="l">
              <a:lnSpc>
                <a:spcPct val="90000"/>
              </a:lnSpc>
              <a:spcBef>
                <a:spcPts val="1200"/>
              </a:spcBef>
              <a:spcAft>
                <a:spcPts val="0"/>
              </a:spcAft>
              <a:buClr>
                <a:schemeClr val="dk1"/>
              </a:buClr>
              <a:buSzPts val="1800"/>
              <a:buChar char="•"/>
              <a:defRPr b="1" sz="1800"/>
            </a:lvl2pPr>
            <a:lvl3pPr indent="-330200" lvl="2" marL="1371600" algn="l">
              <a:lnSpc>
                <a:spcPct val="90000"/>
              </a:lnSpc>
              <a:spcBef>
                <a:spcPts val="1200"/>
              </a:spcBef>
              <a:spcAft>
                <a:spcPts val="0"/>
              </a:spcAft>
              <a:buClr>
                <a:schemeClr val="dk1"/>
              </a:buClr>
              <a:buSzPts val="1600"/>
              <a:buChar char="•"/>
              <a:defRPr b="1" sz="1600"/>
            </a:lvl3pPr>
            <a:lvl4pPr indent="-317500" lvl="3" marL="1828800" algn="l">
              <a:lnSpc>
                <a:spcPct val="90000"/>
              </a:lnSpc>
              <a:spcBef>
                <a:spcPts val="1200"/>
              </a:spcBef>
              <a:spcAft>
                <a:spcPts val="0"/>
              </a:spcAft>
              <a:buClr>
                <a:schemeClr val="dk1"/>
              </a:buClr>
              <a:buSzPts val="1400"/>
              <a:buChar char="•"/>
              <a:defRPr b="1" sz="1400"/>
            </a:lvl4pPr>
            <a:lvl5pPr indent="-317500" lvl="4" marL="2286000" algn="l">
              <a:lnSpc>
                <a:spcPct val="90000"/>
              </a:lnSpc>
              <a:spcBef>
                <a:spcPts val="1200"/>
              </a:spcBef>
              <a:spcAft>
                <a:spcPts val="0"/>
              </a:spcAft>
              <a:buClr>
                <a:schemeClr val="dk1"/>
              </a:buClr>
              <a:buSzPts val="1400"/>
              <a:buChar char="•"/>
              <a:defRPr b="1"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8"/>
          <p:cNvSpPr txBox="1"/>
          <p:nvPr>
            <p:ph idx="2" type="body"/>
          </p:nvPr>
        </p:nvSpPr>
        <p:spPr>
          <a:xfrm>
            <a:off x="4602310" y="2018120"/>
            <a:ext cx="6751489" cy="374718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sz="2000"/>
            </a:lvl1pPr>
            <a:lvl2pPr indent="-342900" lvl="1" marL="914400" algn="l">
              <a:lnSpc>
                <a:spcPct val="90000"/>
              </a:lnSpc>
              <a:spcBef>
                <a:spcPts val="1200"/>
              </a:spcBef>
              <a:spcAft>
                <a:spcPts val="0"/>
              </a:spcAft>
              <a:buClr>
                <a:schemeClr val="dk1"/>
              </a:buClr>
              <a:buSzPts val="1800"/>
              <a:buChar char="•"/>
              <a:defRPr sz="1800"/>
            </a:lvl2pPr>
            <a:lvl3pPr indent="-330200" lvl="2" marL="1371600" algn="l">
              <a:lnSpc>
                <a:spcPct val="90000"/>
              </a:lnSpc>
              <a:spcBef>
                <a:spcPts val="1200"/>
              </a:spcBef>
              <a:spcAft>
                <a:spcPts val="0"/>
              </a:spcAft>
              <a:buClr>
                <a:schemeClr val="dk1"/>
              </a:buClr>
              <a:buSzPts val="1600"/>
              <a:buChar char="•"/>
              <a:defRPr sz="1600"/>
            </a:lvl3pPr>
            <a:lvl4pPr indent="-317500" lvl="3" marL="1828800" algn="l">
              <a:lnSpc>
                <a:spcPct val="90000"/>
              </a:lnSpc>
              <a:spcBef>
                <a:spcPts val="1200"/>
              </a:spcBef>
              <a:spcAft>
                <a:spcPts val="0"/>
              </a:spcAft>
              <a:buClr>
                <a:schemeClr val="dk1"/>
              </a:buClr>
              <a:buSzPts val="1400"/>
              <a:buChar char="•"/>
              <a:defRPr sz="1400"/>
            </a:lvl4pPr>
            <a:lvl5pPr indent="-317500" lvl="4" marL="2286000" algn="l">
              <a:lnSpc>
                <a:spcPct val="90000"/>
              </a:lnSpc>
              <a:spcBef>
                <a:spcPts val="1200"/>
              </a:spcBef>
              <a:spcAft>
                <a:spcPts val="0"/>
              </a:spcAft>
              <a:buClr>
                <a:schemeClr val="dk1"/>
              </a:buClr>
              <a:buSzPts val="1400"/>
              <a:buChar char="•"/>
              <a:defRPr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7" name="Google Shape;47;p28"/>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内容和右侧图像">
  <p:cSld name="标题内容和右侧图像">
    <p:bg>
      <p:bgPr>
        <a:solidFill>
          <a:schemeClr val="accent1"/>
        </a:solidFill>
      </p:bgPr>
    </p:bg>
    <p:spTree>
      <p:nvGrpSpPr>
        <p:cNvPr id="48" name="Shape 48"/>
        <p:cNvGrpSpPr/>
        <p:nvPr/>
      </p:nvGrpSpPr>
      <p:grpSpPr>
        <a:xfrm>
          <a:off x="0" y="0"/>
          <a:ext cx="0" cy="0"/>
          <a:chOff x="0" y="0"/>
          <a:chExt cx="0" cy="0"/>
        </a:xfrm>
      </p:grpSpPr>
      <p:pic>
        <p:nvPicPr>
          <p:cNvPr id="49" name="Google Shape;49;p29"/>
          <p:cNvPicPr preferRelativeResize="0"/>
          <p:nvPr/>
        </p:nvPicPr>
        <p:blipFill rotWithShape="1">
          <a:blip r:embed="rId2">
            <a:alphaModFix/>
          </a:blip>
          <a:srcRect b="67543" l="67703" r="0" t="485"/>
          <a:stretch/>
        </p:blipFill>
        <p:spPr>
          <a:xfrm rot="5400000">
            <a:off x="-115162" y="115164"/>
            <a:ext cx="1895058" cy="1664735"/>
          </a:xfrm>
          <a:prstGeom prst="rect">
            <a:avLst/>
          </a:prstGeom>
          <a:noFill/>
          <a:ln>
            <a:noFill/>
          </a:ln>
        </p:spPr>
      </p:pic>
      <p:sp>
        <p:nvSpPr>
          <p:cNvPr id="50" name="Google Shape;50;p29"/>
          <p:cNvSpPr txBox="1"/>
          <p:nvPr>
            <p:ph type="title"/>
          </p:nvPr>
        </p:nvSpPr>
        <p:spPr>
          <a:xfrm>
            <a:off x="916385" y="446313"/>
            <a:ext cx="5179615" cy="144874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 type="body"/>
          </p:nvPr>
        </p:nvSpPr>
        <p:spPr>
          <a:xfrm>
            <a:off x="914399" y="2022250"/>
            <a:ext cx="5181600" cy="374718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b="0" sz="2000"/>
            </a:lvl1pPr>
            <a:lvl2pPr indent="-342900" lvl="1" marL="914400" algn="l">
              <a:lnSpc>
                <a:spcPct val="90000"/>
              </a:lnSpc>
              <a:spcBef>
                <a:spcPts val="1200"/>
              </a:spcBef>
              <a:spcAft>
                <a:spcPts val="0"/>
              </a:spcAft>
              <a:buClr>
                <a:schemeClr val="dk1"/>
              </a:buClr>
              <a:buSzPts val="1800"/>
              <a:buChar char="•"/>
              <a:defRPr b="0" sz="1800"/>
            </a:lvl2pPr>
            <a:lvl3pPr indent="-330200" lvl="2" marL="1371600" algn="l">
              <a:lnSpc>
                <a:spcPct val="90000"/>
              </a:lnSpc>
              <a:spcBef>
                <a:spcPts val="1200"/>
              </a:spcBef>
              <a:spcAft>
                <a:spcPts val="0"/>
              </a:spcAft>
              <a:buClr>
                <a:schemeClr val="dk1"/>
              </a:buClr>
              <a:buSzPts val="1600"/>
              <a:buChar char="•"/>
              <a:defRPr b="0" sz="1600"/>
            </a:lvl3pPr>
            <a:lvl4pPr indent="-317500" lvl="3" marL="1828800" algn="l">
              <a:lnSpc>
                <a:spcPct val="90000"/>
              </a:lnSpc>
              <a:spcBef>
                <a:spcPts val="1200"/>
              </a:spcBef>
              <a:spcAft>
                <a:spcPts val="0"/>
              </a:spcAft>
              <a:buClr>
                <a:schemeClr val="dk1"/>
              </a:buClr>
              <a:buSzPts val="1400"/>
              <a:buChar char="•"/>
              <a:defRPr b="0" sz="1400"/>
            </a:lvl4pPr>
            <a:lvl5pPr indent="-317500" lvl="4" marL="2286000" algn="l">
              <a:lnSpc>
                <a:spcPct val="90000"/>
              </a:lnSpc>
              <a:spcBef>
                <a:spcPts val="1200"/>
              </a:spcBef>
              <a:spcAft>
                <a:spcPts val="0"/>
              </a:spcAft>
              <a:buClr>
                <a:schemeClr val="dk1"/>
              </a:buClr>
              <a:buSzPts val="1400"/>
              <a:buChar char="•"/>
              <a:defRPr b="0"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29"/>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
        <p:nvSpPr>
          <p:cNvPr id="53" name="Google Shape;53;p29"/>
          <p:cNvSpPr/>
          <p:nvPr>
            <p:ph idx="2" type="pic"/>
          </p:nvPr>
        </p:nvSpPr>
        <p:spPr>
          <a:xfrm>
            <a:off x="6076950" y="0"/>
            <a:ext cx="6115050" cy="6868886"/>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两栏内容 3">
  <p:cSld name="标题和两栏内容 3">
    <p:bg>
      <p:bgPr>
        <a:solidFill>
          <a:schemeClr val="accent1"/>
        </a:solidFill>
      </p:bgPr>
    </p:bg>
    <p:spTree>
      <p:nvGrpSpPr>
        <p:cNvPr id="54" name="Shape 54"/>
        <p:cNvGrpSpPr/>
        <p:nvPr/>
      </p:nvGrpSpPr>
      <p:grpSpPr>
        <a:xfrm>
          <a:off x="0" y="0"/>
          <a:ext cx="0" cy="0"/>
          <a:chOff x="0" y="0"/>
          <a:chExt cx="0" cy="0"/>
        </a:xfrm>
      </p:grpSpPr>
      <p:pic>
        <p:nvPicPr>
          <p:cNvPr id="55" name="Google Shape;55;p30"/>
          <p:cNvPicPr preferRelativeResize="0"/>
          <p:nvPr/>
        </p:nvPicPr>
        <p:blipFill rotWithShape="1">
          <a:blip r:embed="rId2">
            <a:alphaModFix/>
          </a:blip>
          <a:srcRect b="1" l="18883" r="46636" t="34408"/>
          <a:stretch/>
        </p:blipFill>
        <p:spPr>
          <a:xfrm rot="10800000">
            <a:off x="10506072" y="3984078"/>
            <a:ext cx="1685928" cy="2873921"/>
          </a:xfrm>
          <a:prstGeom prst="rect">
            <a:avLst/>
          </a:prstGeom>
          <a:noFill/>
          <a:ln>
            <a:noFill/>
          </a:ln>
        </p:spPr>
      </p:pic>
      <p:pic>
        <p:nvPicPr>
          <p:cNvPr id="56" name="Google Shape;56;p30"/>
          <p:cNvPicPr preferRelativeResize="0"/>
          <p:nvPr/>
        </p:nvPicPr>
        <p:blipFill rotWithShape="1">
          <a:blip r:embed="rId3">
            <a:alphaModFix/>
          </a:blip>
          <a:srcRect b="8754" l="29718" r="39389" t="47145"/>
          <a:stretch/>
        </p:blipFill>
        <p:spPr>
          <a:xfrm flipH="1" rot="-5400000">
            <a:off x="9781526" y="-311511"/>
            <a:ext cx="2098964" cy="2721985"/>
          </a:xfrm>
          <a:prstGeom prst="rect">
            <a:avLst/>
          </a:prstGeom>
          <a:noFill/>
          <a:ln>
            <a:noFill/>
          </a:ln>
        </p:spPr>
      </p:pic>
      <p:sp>
        <p:nvSpPr>
          <p:cNvPr id="57" name="Google Shape;57;p30"/>
          <p:cNvSpPr txBox="1"/>
          <p:nvPr>
            <p:ph type="title"/>
          </p:nvPr>
        </p:nvSpPr>
        <p:spPr>
          <a:xfrm>
            <a:off x="891990" y="434225"/>
            <a:ext cx="9524998" cy="1499627"/>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30"/>
          <p:cNvSpPr txBox="1"/>
          <p:nvPr>
            <p:ph idx="1" type="body"/>
          </p:nvPr>
        </p:nvSpPr>
        <p:spPr>
          <a:xfrm>
            <a:off x="914399" y="2022250"/>
            <a:ext cx="6257366" cy="3914910"/>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dk1"/>
              </a:buClr>
              <a:buSzPts val="2000"/>
              <a:buNone/>
              <a:defRPr b="0" sz="2000"/>
            </a:lvl1pPr>
            <a:lvl2pPr indent="-355600" lvl="1" marL="914400" algn="l">
              <a:lnSpc>
                <a:spcPct val="90000"/>
              </a:lnSpc>
              <a:spcBef>
                <a:spcPts val="1200"/>
              </a:spcBef>
              <a:spcAft>
                <a:spcPts val="0"/>
              </a:spcAft>
              <a:buClr>
                <a:schemeClr val="dk1"/>
              </a:buClr>
              <a:buSzPts val="2000"/>
              <a:buChar char="•"/>
              <a:defRPr b="0" sz="2000"/>
            </a:lvl2pPr>
            <a:lvl3pPr indent="-342900" lvl="2" marL="1371600" algn="l">
              <a:lnSpc>
                <a:spcPct val="90000"/>
              </a:lnSpc>
              <a:spcBef>
                <a:spcPts val="1200"/>
              </a:spcBef>
              <a:spcAft>
                <a:spcPts val="0"/>
              </a:spcAft>
              <a:buClr>
                <a:schemeClr val="dk1"/>
              </a:buClr>
              <a:buSzPts val="1800"/>
              <a:buChar char="•"/>
              <a:defRPr b="0" sz="1800"/>
            </a:lvl3pPr>
            <a:lvl4pPr indent="-330200" lvl="3" marL="1828800" algn="l">
              <a:lnSpc>
                <a:spcPct val="90000"/>
              </a:lnSpc>
              <a:spcBef>
                <a:spcPts val="1200"/>
              </a:spcBef>
              <a:spcAft>
                <a:spcPts val="0"/>
              </a:spcAft>
              <a:buClr>
                <a:schemeClr val="dk1"/>
              </a:buClr>
              <a:buSzPts val="1600"/>
              <a:buChar char="•"/>
              <a:defRPr b="0" sz="1600"/>
            </a:lvl4pPr>
            <a:lvl5pPr indent="-330200" lvl="4" marL="2286000" algn="l">
              <a:lnSpc>
                <a:spcPct val="90000"/>
              </a:lnSpc>
              <a:spcBef>
                <a:spcPts val="1200"/>
              </a:spcBef>
              <a:spcAft>
                <a:spcPts val="0"/>
              </a:spcAft>
              <a:buClr>
                <a:schemeClr val="dk1"/>
              </a:buClr>
              <a:buSzPts val="1600"/>
              <a:buChar char="•"/>
              <a:defRPr b="0" sz="16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30"/>
          <p:cNvSpPr txBox="1"/>
          <p:nvPr>
            <p:ph idx="2" type="body"/>
          </p:nvPr>
        </p:nvSpPr>
        <p:spPr>
          <a:xfrm>
            <a:off x="7967475" y="2018119"/>
            <a:ext cx="2449514" cy="3931919"/>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b="1" sz="2000"/>
            </a:lvl1pPr>
            <a:lvl2pPr indent="-342900" lvl="1" marL="914400" algn="l">
              <a:lnSpc>
                <a:spcPct val="90000"/>
              </a:lnSpc>
              <a:spcBef>
                <a:spcPts val="1200"/>
              </a:spcBef>
              <a:spcAft>
                <a:spcPts val="0"/>
              </a:spcAft>
              <a:buClr>
                <a:schemeClr val="dk1"/>
              </a:buClr>
              <a:buSzPts val="1800"/>
              <a:buChar char="•"/>
              <a:defRPr b="1" sz="1800"/>
            </a:lvl2pPr>
            <a:lvl3pPr indent="-330200" lvl="2" marL="1371600" algn="l">
              <a:lnSpc>
                <a:spcPct val="90000"/>
              </a:lnSpc>
              <a:spcBef>
                <a:spcPts val="1200"/>
              </a:spcBef>
              <a:spcAft>
                <a:spcPts val="0"/>
              </a:spcAft>
              <a:buClr>
                <a:schemeClr val="dk1"/>
              </a:buClr>
              <a:buSzPts val="1600"/>
              <a:buChar char="•"/>
              <a:defRPr b="1" sz="1600"/>
            </a:lvl3pPr>
            <a:lvl4pPr indent="-317500" lvl="3" marL="1828800" algn="l">
              <a:lnSpc>
                <a:spcPct val="90000"/>
              </a:lnSpc>
              <a:spcBef>
                <a:spcPts val="1200"/>
              </a:spcBef>
              <a:spcAft>
                <a:spcPts val="0"/>
              </a:spcAft>
              <a:buClr>
                <a:schemeClr val="dk1"/>
              </a:buClr>
              <a:buSzPts val="1400"/>
              <a:buChar char="•"/>
              <a:defRPr b="1" sz="1400"/>
            </a:lvl4pPr>
            <a:lvl5pPr indent="-317500" lvl="4" marL="2286000" algn="l">
              <a:lnSpc>
                <a:spcPct val="90000"/>
              </a:lnSpc>
              <a:spcBef>
                <a:spcPts val="1200"/>
              </a:spcBef>
              <a:spcAft>
                <a:spcPts val="0"/>
              </a:spcAft>
              <a:buClr>
                <a:schemeClr val="dk1"/>
              </a:buClr>
              <a:buSzPts val="1400"/>
              <a:buChar char="•"/>
              <a:defRPr b="1"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0" name="Google Shape;60;p30"/>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结束语 2">
  <p:cSld name="结束语 2">
    <p:bg>
      <p:bgPr>
        <a:solidFill>
          <a:schemeClr val="dk1"/>
        </a:solidFill>
      </p:bgPr>
    </p:bg>
    <p:spTree>
      <p:nvGrpSpPr>
        <p:cNvPr id="61" name="Shape 61"/>
        <p:cNvGrpSpPr/>
        <p:nvPr/>
      </p:nvGrpSpPr>
      <p:grpSpPr>
        <a:xfrm>
          <a:off x="0" y="0"/>
          <a:ext cx="0" cy="0"/>
          <a:chOff x="0" y="0"/>
          <a:chExt cx="0" cy="0"/>
        </a:xfrm>
      </p:grpSpPr>
      <p:sp>
        <p:nvSpPr>
          <p:cNvPr id="62" name="Google Shape;62;p31"/>
          <p:cNvSpPr txBox="1"/>
          <p:nvPr>
            <p:ph type="title"/>
          </p:nvPr>
        </p:nvSpPr>
        <p:spPr>
          <a:xfrm>
            <a:off x="6091515" y="374090"/>
            <a:ext cx="5057104" cy="36249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31"/>
          <p:cNvSpPr txBox="1"/>
          <p:nvPr>
            <p:ph idx="1" type="body"/>
          </p:nvPr>
        </p:nvSpPr>
        <p:spPr>
          <a:xfrm>
            <a:off x="6091514" y="4172989"/>
            <a:ext cx="5057103" cy="2519363"/>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0"/>
              </a:spcBef>
              <a:spcAft>
                <a:spcPts val="0"/>
              </a:spcAft>
              <a:buClr>
                <a:schemeClr val="lt1"/>
              </a:buClr>
              <a:buSzPts val="1800"/>
              <a:buFont typeface="Arial"/>
              <a:buChar char="•"/>
              <a:defRPr sz="1800">
                <a:solidFill>
                  <a:schemeClr val="lt1"/>
                </a:solidFill>
              </a:defRPr>
            </a:lvl2pPr>
            <a:lvl3pPr indent="-330200" lvl="2" marL="1371600" algn="l">
              <a:lnSpc>
                <a:spcPct val="90000"/>
              </a:lnSpc>
              <a:spcBef>
                <a:spcPts val="0"/>
              </a:spcBef>
              <a:spcAft>
                <a:spcPts val="0"/>
              </a:spcAft>
              <a:buClr>
                <a:schemeClr val="lt1"/>
              </a:buClr>
              <a:buSzPts val="1600"/>
              <a:buFont typeface="Arial"/>
              <a:buChar char="•"/>
              <a:defRPr sz="1600">
                <a:solidFill>
                  <a:schemeClr val="lt1"/>
                </a:solidFill>
              </a:defRPr>
            </a:lvl3pPr>
            <a:lvl4pPr indent="-317500" lvl="3" marL="1828800" algn="l">
              <a:lnSpc>
                <a:spcPct val="90000"/>
              </a:lnSpc>
              <a:spcBef>
                <a:spcPts val="0"/>
              </a:spcBef>
              <a:spcAft>
                <a:spcPts val="0"/>
              </a:spcAft>
              <a:buClr>
                <a:schemeClr val="lt1"/>
              </a:buClr>
              <a:buSzPts val="1400"/>
              <a:buFont typeface="Arial"/>
              <a:buChar char="•"/>
              <a:defRPr sz="1400">
                <a:solidFill>
                  <a:schemeClr val="lt1"/>
                </a:solidFill>
              </a:defRPr>
            </a:lvl4pPr>
            <a:lvl5pPr indent="-304800" lvl="4" marL="2286000" algn="l">
              <a:lnSpc>
                <a:spcPct val="90000"/>
              </a:lnSpc>
              <a:spcBef>
                <a:spcPts val="0"/>
              </a:spcBef>
              <a:spcAft>
                <a:spcPts val="0"/>
              </a:spcAft>
              <a:buClr>
                <a:schemeClr val="lt1"/>
              </a:buClr>
              <a:buSzPts val="1200"/>
              <a:buFont typeface="Arial"/>
              <a:buChar char="•"/>
              <a:defRPr sz="1200">
                <a:solidFill>
                  <a:schemeClr val="lt1"/>
                </a:solidFill>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pic>
        <p:nvPicPr>
          <p:cNvPr id="64" name="Google Shape;64;p31"/>
          <p:cNvPicPr preferRelativeResize="0"/>
          <p:nvPr/>
        </p:nvPicPr>
        <p:blipFill rotWithShape="1">
          <a:blip r:embed="rId2">
            <a:alphaModFix/>
          </a:blip>
          <a:srcRect b="0" l="4151" r="18577" t="0"/>
          <a:stretch/>
        </p:blipFill>
        <p:spPr>
          <a:xfrm flipH="1">
            <a:off x="0" y="0"/>
            <a:ext cx="5181600" cy="68580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概述">
  <p:cSld name="概述">
    <p:bg>
      <p:bgPr>
        <a:solidFill>
          <a:schemeClr val="accent1"/>
        </a:solidFill>
      </p:bgPr>
    </p:bg>
    <p:spTree>
      <p:nvGrpSpPr>
        <p:cNvPr id="65" name="Shape 65"/>
        <p:cNvGrpSpPr/>
        <p:nvPr/>
      </p:nvGrpSpPr>
      <p:grpSpPr>
        <a:xfrm>
          <a:off x="0" y="0"/>
          <a:ext cx="0" cy="0"/>
          <a:chOff x="0" y="0"/>
          <a:chExt cx="0" cy="0"/>
        </a:xfrm>
      </p:grpSpPr>
      <p:pic>
        <p:nvPicPr>
          <p:cNvPr id="66" name="Google Shape;66;p32"/>
          <p:cNvPicPr preferRelativeResize="0"/>
          <p:nvPr/>
        </p:nvPicPr>
        <p:blipFill rotWithShape="1">
          <a:blip r:embed="rId2">
            <a:alphaModFix/>
          </a:blip>
          <a:srcRect b="78533" l="15158" r="0" t="-5374"/>
          <a:stretch/>
        </p:blipFill>
        <p:spPr>
          <a:xfrm rot="10800000">
            <a:off x="6324600" y="0"/>
            <a:ext cx="5867400" cy="1647324"/>
          </a:xfrm>
          <a:prstGeom prst="rect">
            <a:avLst/>
          </a:prstGeom>
          <a:noFill/>
          <a:ln>
            <a:noFill/>
          </a:ln>
        </p:spPr>
      </p:pic>
      <p:sp>
        <p:nvSpPr>
          <p:cNvPr id="67" name="Google Shape;67;p32"/>
          <p:cNvSpPr txBox="1"/>
          <p:nvPr>
            <p:ph type="title"/>
          </p:nvPr>
        </p:nvSpPr>
        <p:spPr>
          <a:xfrm>
            <a:off x="6126480" y="1310639"/>
            <a:ext cx="4805997" cy="2689629"/>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4800"/>
              <a:buFont typeface="Arial"/>
              <a:buNone/>
              <a:defRPr sz="48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8" name="Google Shape;68;p32"/>
          <p:cNvSpPr/>
          <p:nvPr>
            <p:ph idx="2" type="pic"/>
          </p:nvPr>
        </p:nvSpPr>
        <p:spPr>
          <a:xfrm>
            <a:off x="0" y="-10160"/>
            <a:ext cx="6096000" cy="6858000"/>
          </a:xfrm>
          <a:prstGeom prst="rect">
            <a:avLst/>
          </a:prstGeom>
          <a:noFill/>
          <a:ln>
            <a:noFill/>
          </a:ln>
        </p:spPr>
      </p:sp>
      <p:sp>
        <p:nvSpPr>
          <p:cNvPr id="69" name="Google Shape;69;p32"/>
          <p:cNvSpPr txBox="1"/>
          <p:nvPr>
            <p:ph idx="1" type="body"/>
          </p:nvPr>
        </p:nvSpPr>
        <p:spPr>
          <a:xfrm>
            <a:off x="6126163" y="4172990"/>
            <a:ext cx="4805997" cy="238973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000"/>
              <a:buFont typeface="Arial"/>
              <a:buNone/>
              <a:defRPr sz="2000"/>
            </a:lvl1pPr>
            <a:lvl2pPr indent="-228600" lvl="1" marL="914400" algn="l">
              <a:lnSpc>
                <a:spcPct val="90000"/>
              </a:lnSpc>
              <a:spcBef>
                <a:spcPts val="500"/>
              </a:spcBef>
              <a:spcAft>
                <a:spcPts val="0"/>
              </a:spcAft>
              <a:buClr>
                <a:schemeClr val="dk1"/>
              </a:buClr>
              <a:buSzPts val="1800"/>
              <a:buNone/>
              <a:defRPr sz="1800"/>
            </a:lvl2pPr>
            <a:lvl3pPr indent="-228600" lvl="2" marL="1371600" algn="l">
              <a:lnSpc>
                <a:spcPct val="90000"/>
              </a:lnSpc>
              <a:spcBef>
                <a:spcPts val="500"/>
              </a:spcBef>
              <a:spcAft>
                <a:spcPts val="0"/>
              </a:spcAft>
              <a:buClr>
                <a:schemeClr val="dk1"/>
              </a:buClr>
              <a:buSzPts val="1600"/>
              <a:buNone/>
              <a:defRPr sz="1600"/>
            </a:lvl3pPr>
            <a:lvl4pPr indent="-228600" lvl="3" marL="1828800" algn="l">
              <a:lnSpc>
                <a:spcPct val="90000"/>
              </a:lnSpc>
              <a:spcBef>
                <a:spcPts val="500"/>
              </a:spcBef>
              <a:spcAft>
                <a:spcPts val="0"/>
              </a:spcAft>
              <a:buClr>
                <a:schemeClr val="dk1"/>
              </a:buClr>
              <a:buSzPts val="1400"/>
              <a:buNone/>
              <a:defRPr sz="1400"/>
            </a:lvl4pPr>
            <a:lvl5pPr indent="-228600" lvl="4" marL="2286000" algn="l">
              <a:lnSpc>
                <a:spcPct val="90000"/>
              </a:lnSpc>
              <a:spcBef>
                <a:spcPts val="500"/>
              </a:spcBef>
              <a:spcAft>
                <a:spcPts val="0"/>
              </a:spcAft>
              <a:buClr>
                <a:schemeClr val="dk1"/>
              </a:buClr>
              <a:buSzPts val="1400"/>
              <a:buNone/>
              <a:defRPr sz="1400"/>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内容和左侧图像 1">
  <p:cSld name="标题内容和左侧图像 1">
    <p:bg>
      <p:bgPr>
        <a:solidFill>
          <a:schemeClr val="dk1"/>
        </a:solidFill>
      </p:bgPr>
    </p:bg>
    <p:spTree>
      <p:nvGrpSpPr>
        <p:cNvPr id="70" name="Shape 70"/>
        <p:cNvGrpSpPr/>
        <p:nvPr/>
      </p:nvGrpSpPr>
      <p:grpSpPr>
        <a:xfrm>
          <a:off x="0" y="0"/>
          <a:ext cx="0" cy="0"/>
          <a:chOff x="0" y="0"/>
          <a:chExt cx="0" cy="0"/>
        </a:xfrm>
      </p:grpSpPr>
      <p:pic>
        <p:nvPicPr>
          <p:cNvPr id="71" name="Google Shape;71;p33"/>
          <p:cNvPicPr preferRelativeResize="0"/>
          <p:nvPr/>
        </p:nvPicPr>
        <p:blipFill rotWithShape="1">
          <a:blip r:embed="rId2">
            <a:alphaModFix/>
          </a:blip>
          <a:srcRect b="0" l="0" r="0" t="0"/>
          <a:stretch/>
        </p:blipFill>
        <p:spPr>
          <a:xfrm rot="-5400000">
            <a:off x="8039100" y="228600"/>
            <a:ext cx="4381500" cy="3924300"/>
          </a:xfrm>
          <a:prstGeom prst="rect">
            <a:avLst/>
          </a:prstGeom>
          <a:noFill/>
          <a:ln>
            <a:noFill/>
          </a:ln>
        </p:spPr>
      </p:pic>
      <p:sp>
        <p:nvSpPr>
          <p:cNvPr id="72" name="Google Shape;72;p33"/>
          <p:cNvSpPr txBox="1"/>
          <p:nvPr>
            <p:ph type="title"/>
          </p:nvPr>
        </p:nvSpPr>
        <p:spPr>
          <a:xfrm>
            <a:off x="6096000" y="375285"/>
            <a:ext cx="4896678" cy="362498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lt1"/>
              </a:buClr>
              <a:buSzPts val="4800"/>
              <a:buFont typeface="Arial"/>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3" name="Google Shape;73;p33"/>
          <p:cNvSpPr/>
          <p:nvPr>
            <p:ph idx="2" type="pic"/>
          </p:nvPr>
        </p:nvSpPr>
        <p:spPr>
          <a:xfrm>
            <a:off x="0" y="0"/>
            <a:ext cx="6096000" cy="6858000"/>
          </a:xfrm>
          <a:prstGeom prst="rect">
            <a:avLst/>
          </a:prstGeom>
          <a:noFill/>
          <a:ln>
            <a:noFill/>
          </a:ln>
        </p:spPr>
      </p:sp>
      <p:sp>
        <p:nvSpPr>
          <p:cNvPr id="74" name="Google Shape;74;p33"/>
          <p:cNvSpPr txBox="1"/>
          <p:nvPr>
            <p:ph idx="1" type="body"/>
          </p:nvPr>
        </p:nvSpPr>
        <p:spPr>
          <a:xfrm>
            <a:off x="6096000" y="4172990"/>
            <a:ext cx="4896677" cy="2309726"/>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0"/>
              </a:spcBef>
              <a:spcAft>
                <a:spcPts val="0"/>
              </a:spcAft>
              <a:buClr>
                <a:schemeClr val="lt1"/>
              </a:buClr>
              <a:buSzPts val="2000"/>
              <a:buNone/>
              <a:defRPr sz="2000">
                <a:solidFill>
                  <a:schemeClr val="lt1"/>
                </a:solidFill>
              </a:defRPr>
            </a:lvl1pPr>
            <a:lvl2pPr indent="-342900" lvl="1" marL="914400" algn="l">
              <a:lnSpc>
                <a:spcPct val="90000"/>
              </a:lnSpc>
              <a:spcBef>
                <a:spcPts val="1200"/>
              </a:spcBef>
              <a:spcAft>
                <a:spcPts val="0"/>
              </a:spcAft>
              <a:buClr>
                <a:schemeClr val="lt1"/>
              </a:buClr>
              <a:buSzPts val="1800"/>
              <a:buFont typeface="Arial"/>
              <a:buChar char="•"/>
              <a:defRPr sz="1800">
                <a:solidFill>
                  <a:schemeClr val="lt1"/>
                </a:solidFill>
              </a:defRPr>
            </a:lvl2pPr>
            <a:lvl3pPr indent="-330200" lvl="2" marL="1371600" algn="l">
              <a:lnSpc>
                <a:spcPct val="90000"/>
              </a:lnSpc>
              <a:spcBef>
                <a:spcPts val="1200"/>
              </a:spcBef>
              <a:spcAft>
                <a:spcPts val="0"/>
              </a:spcAft>
              <a:buClr>
                <a:schemeClr val="lt1"/>
              </a:buClr>
              <a:buSzPts val="1600"/>
              <a:buFont typeface="Arial"/>
              <a:buChar char="•"/>
              <a:defRPr sz="1600">
                <a:solidFill>
                  <a:schemeClr val="lt1"/>
                </a:solidFill>
              </a:defRPr>
            </a:lvl3pPr>
            <a:lvl4pPr indent="-317500" lvl="3" marL="1828800" algn="l">
              <a:lnSpc>
                <a:spcPct val="90000"/>
              </a:lnSpc>
              <a:spcBef>
                <a:spcPts val="1200"/>
              </a:spcBef>
              <a:spcAft>
                <a:spcPts val="0"/>
              </a:spcAft>
              <a:buClr>
                <a:schemeClr val="lt1"/>
              </a:buClr>
              <a:buSzPts val="1400"/>
              <a:buFont typeface="Arial"/>
              <a:buChar char="•"/>
              <a:defRPr sz="1400">
                <a:solidFill>
                  <a:schemeClr val="lt1"/>
                </a:solidFill>
              </a:defRPr>
            </a:lvl4pPr>
            <a:lvl5pPr indent="-317500" lvl="4" marL="2286000" algn="l">
              <a:lnSpc>
                <a:spcPct val="90000"/>
              </a:lnSpc>
              <a:spcBef>
                <a:spcPts val="1200"/>
              </a:spcBef>
              <a:spcAft>
                <a:spcPts val="0"/>
              </a:spcAft>
              <a:buClr>
                <a:schemeClr val="lt1"/>
              </a:buClr>
              <a:buSzPts val="1400"/>
              <a:buFont typeface="Arial"/>
              <a:buChar char="•"/>
              <a:defRPr sz="1400">
                <a:solidFill>
                  <a:schemeClr val="lt1"/>
                </a:solidFill>
              </a:defRPr>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内容和表格 1">
  <p:cSld name="标题内容和表格 1">
    <p:spTree>
      <p:nvGrpSpPr>
        <p:cNvPr id="75" name="Shape 75"/>
        <p:cNvGrpSpPr/>
        <p:nvPr/>
      </p:nvGrpSpPr>
      <p:grpSpPr>
        <a:xfrm>
          <a:off x="0" y="0"/>
          <a:ext cx="0" cy="0"/>
          <a:chOff x="0" y="0"/>
          <a:chExt cx="0" cy="0"/>
        </a:xfrm>
      </p:grpSpPr>
      <p:pic>
        <p:nvPicPr>
          <p:cNvPr id="76" name="Google Shape;76;p34"/>
          <p:cNvPicPr preferRelativeResize="0"/>
          <p:nvPr/>
        </p:nvPicPr>
        <p:blipFill rotWithShape="1">
          <a:blip r:embed="rId2">
            <a:alphaModFix/>
          </a:blip>
          <a:srcRect b="26760" l="0" r="55824" t="0"/>
          <a:stretch/>
        </p:blipFill>
        <p:spPr>
          <a:xfrm>
            <a:off x="9229725" y="1835240"/>
            <a:ext cx="2962275" cy="5022760"/>
          </a:xfrm>
          <a:prstGeom prst="rect">
            <a:avLst/>
          </a:prstGeom>
          <a:noFill/>
          <a:ln>
            <a:noFill/>
          </a:ln>
        </p:spPr>
      </p:pic>
      <p:sp>
        <p:nvSpPr>
          <p:cNvPr id="77" name="Google Shape;77;p34"/>
          <p:cNvSpPr/>
          <p:nvPr/>
        </p:nvSpPr>
        <p:spPr>
          <a:xfrm>
            <a:off x="4443413" y="1835240"/>
            <a:ext cx="7000875" cy="4279810"/>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dk1"/>
              </a:solidFill>
              <a:latin typeface="Arial"/>
              <a:ea typeface="Arial"/>
              <a:cs typeface="Arial"/>
              <a:sym typeface="Arial"/>
            </a:endParaRPr>
          </a:p>
        </p:txBody>
      </p:sp>
      <p:pic>
        <p:nvPicPr>
          <p:cNvPr id="78" name="Google Shape;78;p34"/>
          <p:cNvPicPr preferRelativeResize="0"/>
          <p:nvPr/>
        </p:nvPicPr>
        <p:blipFill rotWithShape="1">
          <a:blip r:embed="rId2">
            <a:alphaModFix/>
          </a:blip>
          <a:srcRect b="10347" l="0" r="75060" t="60903"/>
          <a:stretch/>
        </p:blipFill>
        <p:spPr>
          <a:xfrm rot="-5400000">
            <a:off x="149650" y="-149653"/>
            <a:ext cx="1672375" cy="1971675"/>
          </a:xfrm>
          <a:prstGeom prst="rect">
            <a:avLst/>
          </a:prstGeom>
          <a:noFill/>
          <a:ln>
            <a:noFill/>
          </a:ln>
        </p:spPr>
      </p:pic>
      <p:sp>
        <p:nvSpPr>
          <p:cNvPr id="79" name="Google Shape;79;p34"/>
          <p:cNvSpPr txBox="1"/>
          <p:nvPr>
            <p:ph type="title"/>
          </p:nvPr>
        </p:nvSpPr>
        <p:spPr>
          <a:xfrm>
            <a:off x="914399" y="365125"/>
            <a:ext cx="10363202" cy="1603462"/>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4"/>
          <p:cNvSpPr txBox="1"/>
          <p:nvPr>
            <p:ph idx="1" type="body"/>
          </p:nvPr>
        </p:nvSpPr>
        <p:spPr>
          <a:xfrm>
            <a:off x="914399" y="2022250"/>
            <a:ext cx="3299013" cy="3914910"/>
          </a:xfrm>
          <a:prstGeom prst="rect">
            <a:avLst/>
          </a:prstGeom>
          <a:noFill/>
          <a:ln>
            <a:noFill/>
          </a:ln>
        </p:spPr>
        <p:txBody>
          <a:bodyPr anchorCtr="0" anchor="t" bIns="45700" lIns="91425" spcFirstLastPara="1" rIns="91425" wrap="square" tIns="45700">
            <a:normAutofit/>
          </a:bodyPr>
          <a:lstStyle>
            <a:lvl1pPr indent="-355600" lvl="0" marL="457200" algn="l">
              <a:lnSpc>
                <a:spcPct val="90000"/>
              </a:lnSpc>
              <a:spcBef>
                <a:spcPts val="0"/>
              </a:spcBef>
              <a:spcAft>
                <a:spcPts val="0"/>
              </a:spcAft>
              <a:buClr>
                <a:schemeClr val="dk1"/>
              </a:buClr>
              <a:buSzPts val="2000"/>
              <a:buChar char="•"/>
              <a:defRPr b="0" sz="2000"/>
            </a:lvl1pPr>
            <a:lvl2pPr indent="-342900" lvl="1" marL="914400" algn="l">
              <a:lnSpc>
                <a:spcPct val="90000"/>
              </a:lnSpc>
              <a:spcBef>
                <a:spcPts val="1200"/>
              </a:spcBef>
              <a:spcAft>
                <a:spcPts val="0"/>
              </a:spcAft>
              <a:buClr>
                <a:schemeClr val="dk1"/>
              </a:buClr>
              <a:buSzPts val="1800"/>
              <a:buChar char="•"/>
              <a:defRPr b="0" sz="1800"/>
            </a:lvl2pPr>
            <a:lvl3pPr indent="-330200" lvl="2" marL="1371600" algn="l">
              <a:lnSpc>
                <a:spcPct val="90000"/>
              </a:lnSpc>
              <a:spcBef>
                <a:spcPts val="1200"/>
              </a:spcBef>
              <a:spcAft>
                <a:spcPts val="0"/>
              </a:spcAft>
              <a:buClr>
                <a:schemeClr val="dk1"/>
              </a:buClr>
              <a:buSzPts val="1600"/>
              <a:buChar char="•"/>
              <a:defRPr b="0" sz="1600"/>
            </a:lvl3pPr>
            <a:lvl4pPr indent="-317500" lvl="3" marL="1828800" algn="l">
              <a:lnSpc>
                <a:spcPct val="90000"/>
              </a:lnSpc>
              <a:spcBef>
                <a:spcPts val="1200"/>
              </a:spcBef>
              <a:spcAft>
                <a:spcPts val="0"/>
              </a:spcAft>
              <a:buClr>
                <a:schemeClr val="dk1"/>
              </a:buClr>
              <a:buSzPts val="1400"/>
              <a:buChar char="•"/>
              <a:defRPr b="0" sz="1400"/>
            </a:lvl4pPr>
            <a:lvl5pPr indent="-317500" lvl="4" marL="2286000" algn="l">
              <a:lnSpc>
                <a:spcPct val="90000"/>
              </a:lnSpc>
              <a:spcBef>
                <a:spcPts val="1200"/>
              </a:spcBef>
              <a:spcAft>
                <a:spcPts val="0"/>
              </a:spcAft>
              <a:buClr>
                <a:schemeClr val="dk1"/>
              </a:buClr>
              <a:buSzPts val="1400"/>
              <a:buChar char="•"/>
              <a:defRPr b="0" sz="1400"/>
            </a:lvl5pPr>
            <a:lvl6pPr indent="-342900" lvl="5" marL="2743200" algn="l">
              <a:lnSpc>
                <a:spcPct val="90000"/>
              </a:lnSpc>
              <a:spcBef>
                <a:spcPts val="12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4"/>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表格">
  <p:cSld name="表格">
    <p:spTree>
      <p:nvGrpSpPr>
        <p:cNvPr id="82" name="Shape 82"/>
        <p:cNvGrpSpPr/>
        <p:nvPr/>
      </p:nvGrpSpPr>
      <p:grpSpPr>
        <a:xfrm>
          <a:off x="0" y="0"/>
          <a:ext cx="0" cy="0"/>
          <a:chOff x="0" y="0"/>
          <a:chExt cx="0" cy="0"/>
        </a:xfrm>
      </p:grpSpPr>
      <p:pic>
        <p:nvPicPr>
          <p:cNvPr id="83" name="Google Shape;83;p35"/>
          <p:cNvPicPr preferRelativeResize="0"/>
          <p:nvPr/>
        </p:nvPicPr>
        <p:blipFill rotWithShape="1">
          <a:blip r:embed="rId2">
            <a:alphaModFix/>
          </a:blip>
          <a:srcRect b="0" l="18883" r="46636" t="18052"/>
          <a:stretch/>
        </p:blipFill>
        <p:spPr>
          <a:xfrm rot="5400000">
            <a:off x="9553763" y="-952310"/>
            <a:ext cx="1685928" cy="3590547"/>
          </a:xfrm>
          <a:prstGeom prst="rect">
            <a:avLst/>
          </a:prstGeom>
          <a:noFill/>
          <a:ln>
            <a:noFill/>
          </a:ln>
        </p:spPr>
      </p:pic>
      <p:sp>
        <p:nvSpPr>
          <p:cNvPr id="84" name="Google Shape;84;p35"/>
          <p:cNvSpPr txBox="1"/>
          <p:nvPr>
            <p:ph type="title"/>
          </p:nvPr>
        </p:nvSpPr>
        <p:spPr>
          <a:xfrm>
            <a:off x="923545" y="584477"/>
            <a:ext cx="10354052" cy="120976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5" name="Google Shape;85;p35"/>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lvl1pPr indent="0" lvl="0" marL="0" marR="0" algn="l">
              <a:spcBef>
                <a:spcPts val="0"/>
              </a:spcBef>
              <a:buNone/>
              <a:defRPr sz="1200">
                <a:solidFill>
                  <a:schemeClr val="dk1"/>
                </a:solidFill>
                <a:latin typeface="Arial"/>
                <a:ea typeface="Arial"/>
                <a:cs typeface="Arial"/>
                <a:sym typeface="Arial"/>
              </a:defRPr>
            </a:lvl1pPr>
            <a:lvl2pPr indent="0" lvl="1" marL="0" marR="0" algn="l">
              <a:spcBef>
                <a:spcPts val="0"/>
              </a:spcBef>
              <a:buNone/>
              <a:defRPr sz="1200">
                <a:solidFill>
                  <a:schemeClr val="dk1"/>
                </a:solidFill>
                <a:latin typeface="Arial"/>
                <a:ea typeface="Arial"/>
                <a:cs typeface="Arial"/>
                <a:sym typeface="Arial"/>
              </a:defRPr>
            </a:lvl2pPr>
            <a:lvl3pPr indent="0" lvl="2" marL="0" marR="0" algn="l">
              <a:spcBef>
                <a:spcPts val="0"/>
              </a:spcBef>
              <a:buNone/>
              <a:defRPr sz="1200">
                <a:solidFill>
                  <a:schemeClr val="dk1"/>
                </a:solidFill>
                <a:latin typeface="Arial"/>
                <a:ea typeface="Arial"/>
                <a:cs typeface="Arial"/>
                <a:sym typeface="Arial"/>
              </a:defRPr>
            </a:lvl3pPr>
            <a:lvl4pPr indent="0" lvl="3" marL="0" marR="0" algn="l">
              <a:spcBef>
                <a:spcPts val="0"/>
              </a:spcBef>
              <a:buNone/>
              <a:defRPr sz="1200">
                <a:solidFill>
                  <a:schemeClr val="dk1"/>
                </a:solidFill>
                <a:latin typeface="Arial"/>
                <a:ea typeface="Arial"/>
                <a:cs typeface="Arial"/>
                <a:sym typeface="Arial"/>
              </a:defRPr>
            </a:lvl4pPr>
            <a:lvl5pPr indent="0" lvl="4" marL="0" marR="0" algn="l">
              <a:spcBef>
                <a:spcPts val="0"/>
              </a:spcBef>
              <a:buNone/>
              <a:defRPr sz="1200">
                <a:solidFill>
                  <a:schemeClr val="dk1"/>
                </a:solidFill>
                <a:latin typeface="Arial"/>
                <a:ea typeface="Arial"/>
                <a:cs typeface="Arial"/>
                <a:sym typeface="Arial"/>
              </a:defRPr>
            </a:lvl5pPr>
            <a:lvl6pPr indent="0" lvl="5" marL="0" marR="0" algn="l">
              <a:spcBef>
                <a:spcPts val="0"/>
              </a:spcBef>
              <a:buNone/>
              <a:defRPr sz="1200">
                <a:solidFill>
                  <a:schemeClr val="dk1"/>
                </a:solidFill>
                <a:latin typeface="Arial"/>
                <a:ea typeface="Arial"/>
                <a:cs typeface="Arial"/>
                <a:sym typeface="Arial"/>
              </a:defRPr>
            </a:lvl6pPr>
            <a:lvl7pPr indent="0" lvl="6" marL="0" marR="0" algn="l">
              <a:spcBef>
                <a:spcPts val="0"/>
              </a:spcBef>
              <a:buNone/>
              <a:defRPr sz="1200">
                <a:solidFill>
                  <a:schemeClr val="dk1"/>
                </a:solidFill>
                <a:latin typeface="Arial"/>
                <a:ea typeface="Arial"/>
                <a:cs typeface="Arial"/>
                <a:sym typeface="Arial"/>
              </a:defRPr>
            </a:lvl7pPr>
            <a:lvl8pPr indent="0" lvl="7" marL="0" marR="0" algn="l">
              <a:spcBef>
                <a:spcPts val="0"/>
              </a:spcBef>
              <a:buNone/>
              <a:defRPr sz="1200">
                <a:solidFill>
                  <a:schemeClr val="dk1"/>
                </a:solidFill>
                <a:latin typeface="Arial"/>
                <a:ea typeface="Arial"/>
                <a:cs typeface="Arial"/>
                <a:sym typeface="Arial"/>
              </a:defRPr>
            </a:lvl8pPr>
            <a:lvl9pPr indent="0" lvl="8" marL="0" marR="0" algn="l">
              <a:spcBef>
                <a:spcPts val="0"/>
              </a:spcBef>
              <a:buNone/>
              <a:defRPr sz="1200">
                <a:solidFill>
                  <a:schemeClr val="dk1"/>
                </a:solidFill>
                <a:latin typeface="Arial"/>
                <a:ea typeface="Arial"/>
                <a:cs typeface="Arial"/>
                <a:sym typeface="Arial"/>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2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4.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1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 Id="rId3" Type="http://schemas.openxmlformats.org/officeDocument/2006/relationships/image" Target="../media/image1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1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5.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15.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4.xml"/><Relationship Id="rId3"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5.xml"/><Relationship Id="rId3"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7.xml"/><Relationship Id="rId3"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2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2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
          <p:cNvSpPr txBox="1"/>
          <p:nvPr>
            <p:ph type="title"/>
          </p:nvPr>
        </p:nvSpPr>
        <p:spPr>
          <a:xfrm>
            <a:off x="4957609" y="3001047"/>
            <a:ext cx="6095475" cy="2715905"/>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lt1"/>
              </a:buClr>
              <a:buSzPts val="4800"/>
              <a:buFont typeface="Arial"/>
              <a:buNone/>
            </a:pPr>
            <a:r>
              <a:rPr b="0" i="0" lang="en-US" sz="4800" u="none" cap="none" strike="noStrike">
                <a:solidFill>
                  <a:schemeClr val="lt1"/>
                </a:solidFill>
                <a:latin typeface="Arial"/>
                <a:ea typeface="Arial"/>
                <a:cs typeface="Arial"/>
                <a:sym typeface="Arial"/>
              </a:rPr>
              <a:t>           </a:t>
            </a:r>
            <a:r>
              <a:rPr b="1" i="0" lang="en-US" sz="4800" u="none" cap="none" strike="noStrike">
                <a:solidFill>
                  <a:schemeClr val="lt1"/>
                </a:solidFill>
                <a:latin typeface="Arial"/>
                <a:ea typeface="Arial"/>
                <a:cs typeface="Arial"/>
                <a:sym typeface="Arial"/>
              </a:rPr>
              <a:t>RU FORMAL</a:t>
            </a:r>
            <a:endParaRPr b="1" i="0" sz="4800" u="none" cap="none" strike="noStrike">
              <a:solidFill>
                <a:schemeClr val="lt1"/>
              </a:solidFill>
              <a:latin typeface="Arial"/>
              <a:ea typeface="Arial"/>
              <a:cs typeface="Arial"/>
              <a:sym typeface="Arial"/>
            </a:endParaRPr>
          </a:p>
        </p:txBody>
      </p:sp>
      <p:pic>
        <p:nvPicPr>
          <p:cNvPr id="92" name="Google Shape;92;p1"/>
          <p:cNvPicPr preferRelativeResize="0"/>
          <p:nvPr/>
        </p:nvPicPr>
        <p:blipFill rotWithShape="1">
          <a:blip r:embed="rId3">
            <a:alphaModFix/>
          </a:blip>
          <a:srcRect b="0" l="0" r="0" t="0"/>
          <a:stretch/>
        </p:blipFill>
        <p:spPr>
          <a:xfrm>
            <a:off x="7092233" y="263194"/>
            <a:ext cx="4639310" cy="4511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
          <p:cNvSpPr txBox="1"/>
          <p:nvPr>
            <p:ph type="title"/>
          </p:nvPr>
        </p:nvSpPr>
        <p:spPr>
          <a:xfrm>
            <a:off x="914400" y="315533"/>
            <a:ext cx="4830554" cy="643010"/>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WHAT IS RU FORMAL</a:t>
            </a:r>
            <a:endParaRPr b="0" i="0" sz="3200" u="none" cap="none" strike="noStrike">
              <a:solidFill>
                <a:schemeClr val="dk1"/>
              </a:solidFill>
              <a:latin typeface="Arial"/>
              <a:ea typeface="Arial"/>
              <a:cs typeface="Arial"/>
              <a:sym typeface="Arial"/>
            </a:endParaRPr>
          </a:p>
        </p:txBody>
      </p:sp>
      <p:sp>
        <p:nvSpPr>
          <p:cNvPr id="99" name="Google Shape;99;p2"/>
          <p:cNvSpPr txBox="1"/>
          <p:nvPr>
            <p:ph idx="1" type="body"/>
          </p:nvPr>
        </p:nvSpPr>
        <p:spPr>
          <a:xfrm>
            <a:off x="914400" y="1060145"/>
            <a:ext cx="5915222" cy="2368856"/>
          </a:xfrm>
          <a:prstGeom prst="rect">
            <a:avLst/>
          </a:prstGeom>
          <a:noFill/>
          <a:ln>
            <a:noFill/>
          </a:ln>
        </p:spPr>
        <p:txBody>
          <a:bodyPr anchorCtr="0" anchor="t" bIns="45700" lIns="91425" spcFirstLastPara="1" rIns="91425" wrap="square" tIns="45700">
            <a:normAutofit fontScale="85000" lnSpcReduction="10000"/>
          </a:bodyPr>
          <a:lstStyle/>
          <a:p>
            <a:pPr indent="0" lvl="0" marL="0" rtl="0" algn="l">
              <a:lnSpc>
                <a:spcPct val="120000"/>
              </a:lnSpc>
              <a:spcBef>
                <a:spcPts val="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Our company is a global formal-wear rental service for university students and young professionals. Across campuses worldwide, career fairs, networking events, and industry panels require professional attire. Instead of purchasing expensive outfits for one-time occasions, customers can rent high-quality suits, dresses, and accessories from us at affordable rates.</a:t>
            </a:r>
            <a:endParaRPr/>
          </a:p>
          <a:p>
            <a:pPr indent="0" lvl="0" marL="0" marR="0" rtl="0" algn="l">
              <a:lnSpc>
                <a:spcPct val="120000"/>
              </a:lnSpc>
              <a:spcBef>
                <a:spcPts val="10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100" name="Google Shape;100;p2"/>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101" name="Google Shape;101;p2"/>
          <p:cNvPicPr preferRelativeResize="0"/>
          <p:nvPr/>
        </p:nvPicPr>
        <p:blipFill rotWithShape="1">
          <a:blip r:embed="rId3">
            <a:alphaModFix/>
          </a:blip>
          <a:srcRect b="0" l="0" r="0" t="0"/>
          <a:stretch/>
        </p:blipFill>
        <p:spPr>
          <a:xfrm>
            <a:off x="1037230" y="3104866"/>
            <a:ext cx="4879075" cy="359618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3"/>
          <p:cNvSpPr txBox="1"/>
          <p:nvPr>
            <p:ph type="title"/>
          </p:nvPr>
        </p:nvSpPr>
        <p:spPr>
          <a:xfrm>
            <a:off x="1980149" y="113513"/>
            <a:ext cx="4677103" cy="2197266"/>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lt1"/>
              </a:buClr>
              <a:buSzPts val="4800"/>
              <a:buFont typeface="Arial"/>
              <a:buNone/>
            </a:pPr>
            <a:r>
              <a:rPr b="0" i="0" lang="en-US" sz="4800" u="none" cap="none" strike="noStrike">
                <a:solidFill>
                  <a:schemeClr val="lt1"/>
                </a:solidFill>
                <a:latin typeface="Arial"/>
                <a:ea typeface="Arial"/>
                <a:cs typeface="Arial"/>
                <a:sym typeface="Arial"/>
              </a:rPr>
              <a:t>CUSTOMER VALUE PROPOSITION</a:t>
            </a:r>
            <a:endParaRPr b="0" i="0" sz="4800" u="none" cap="none" strike="noStrike">
              <a:solidFill>
                <a:schemeClr val="lt1"/>
              </a:solidFill>
              <a:latin typeface="Arial"/>
              <a:ea typeface="Arial"/>
              <a:cs typeface="Arial"/>
              <a:sym typeface="Arial"/>
            </a:endParaRPr>
          </a:p>
        </p:txBody>
      </p:sp>
      <p:pic>
        <p:nvPicPr>
          <p:cNvPr descr="一个人看着一张纸" id="108" name="Google Shape;108;p3"/>
          <p:cNvPicPr preferRelativeResize="0"/>
          <p:nvPr>
            <p:ph idx="2" type="pic"/>
          </p:nvPr>
        </p:nvPicPr>
        <p:blipFill rotWithShape="1">
          <a:blip r:embed="rId3">
            <a:alphaModFix/>
          </a:blip>
          <a:srcRect b="119" l="0" r="0" t="119"/>
          <a:stretch/>
        </p:blipFill>
        <p:spPr>
          <a:xfrm>
            <a:off x="6922113" y="-39415"/>
            <a:ext cx="5658419" cy="6858001"/>
          </a:xfrm>
          <a:prstGeom prst="rect">
            <a:avLst/>
          </a:prstGeom>
          <a:noFill/>
          <a:ln>
            <a:noFill/>
          </a:ln>
        </p:spPr>
      </p:pic>
      <p:sp>
        <p:nvSpPr>
          <p:cNvPr id="109" name="Google Shape;109;p3"/>
          <p:cNvSpPr txBox="1"/>
          <p:nvPr/>
        </p:nvSpPr>
        <p:spPr>
          <a:xfrm>
            <a:off x="1715288" y="2155841"/>
            <a:ext cx="6053960" cy="5016758"/>
          </a:xfrm>
          <a:prstGeom prst="rect">
            <a:avLst/>
          </a:prstGeom>
          <a:noFill/>
          <a:ln>
            <a:noFill/>
          </a:ln>
        </p:spPr>
        <p:txBody>
          <a:bodyPr anchorCtr="0" anchor="t" bIns="45700" lIns="91425" spcFirstLastPara="1" rIns="91425" wrap="square" tIns="45700">
            <a:spAutoFit/>
          </a:bodyPr>
          <a:lstStyle/>
          <a:p>
            <a:pPr indent="-285750" lvl="0" marL="285750" marR="0" rtl="0" algn="l">
              <a:spcBef>
                <a:spcPts val="0"/>
              </a:spcBef>
              <a:spcAft>
                <a:spcPts val="0"/>
              </a:spcAft>
              <a:buClr>
                <a:srgbClr val="F3F3F3"/>
              </a:buClr>
              <a:buSzPts val="1600"/>
              <a:buFont typeface="Arial"/>
              <a:buChar char="•"/>
            </a:pPr>
            <a:r>
              <a:rPr b="0" i="0" lang="en-US" sz="1600">
                <a:solidFill>
                  <a:srgbClr val="F3F3F3"/>
                </a:solidFill>
                <a:latin typeface="Arial"/>
                <a:ea typeface="Arial"/>
                <a:cs typeface="Arial"/>
                <a:sym typeface="Arial"/>
              </a:rPr>
              <a:t>Our company ensures high‑quality formal wear in excellent condition, with collections that keep up with modern styles fitting regional trends. </a:t>
            </a:r>
            <a:endParaRPr/>
          </a:p>
          <a:p>
            <a:pPr indent="0" lvl="0" marL="0" marR="0" rtl="0" algn="l">
              <a:spcBef>
                <a:spcPts val="0"/>
              </a:spcBef>
              <a:spcAft>
                <a:spcPts val="0"/>
              </a:spcAft>
              <a:buClr>
                <a:schemeClr val="dk1"/>
              </a:buClr>
              <a:buSzPts val="1600"/>
              <a:buFont typeface="Arial"/>
              <a:buNone/>
            </a:pPr>
            <a:r>
              <a:t/>
            </a:r>
            <a:endParaRPr b="0" i="0" sz="1600">
              <a:solidFill>
                <a:srgbClr val="F3F3F3"/>
              </a:solidFill>
              <a:latin typeface="Arial"/>
              <a:ea typeface="Arial"/>
              <a:cs typeface="Arial"/>
              <a:sym typeface="Arial"/>
            </a:endParaRPr>
          </a:p>
          <a:p>
            <a:pPr indent="-285750" lvl="0" marL="285750" marR="0" rtl="0" algn="l">
              <a:spcBef>
                <a:spcPts val="0"/>
              </a:spcBef>
              <a:spcAft>
                <a:spcPts val="0"/>
              </a:spcAft>
              <a:buClr>
                <a:srgbClr val="F3F3F3"/>
              </a:buClr>
              <a:buSzPts val="1600"/>
              <a:buFont typeface="Arial"/>
              <a:buChar char="•"/>
            </a:pPr>
            <a:r>
              <a:rPr b="0" i="0" lang="en-US" sz="1600">
                <a:solidFill>
                  <a:srgbClr val="F3F3F3"/>
                </a:solidFill>
                <a:latin typeface="Arial"/>
                <a:ea typeface="Arial"/>
                <a:cs typeface="Arial"/>
                <a:sym typeface="Arial"/>
              </a:rPr>
              <a:t>After each rental, items go through a standardized inspection and care process ensure they are always in good condition</a:t>
            </a:r>
            <a:endParaRPr/>
          </a:p>
          <a:p>
            <a:pPr indent="0" lvl="0" marL="0" marR="0" rtl="0" algn="l">
              <a:spcBef>
                <a:spcPts val="0"/>
              </a:spcBef>
              <a:spcAft>
                <a:spcPts val="0"/>
              </a:spcAft>
              <a:buClr>
                <a:schemeClr val="dk1"/>
              </a:buClr>
              <a:buSzPts val="1600"/>
              <a:buFont typeface="Arial"/>
              <a:buNone/>
            </a:pPr>
            <a:r>
              <a:t/>
            </a:r>
            <a:endParaRPr sz="1600">
              <a:solidFill>
                <a:srgbClr val="F3F3F3"/>
              </a:solidFill>
              <a:latin typeface="Arial"/>
              <a:ea typeface="Arial"/>
              <a:cs typeface="Arial"/>
              <a:sym typeface="Arial"/>
            </a:endParaRPr>
          </a:p>
          <a:p>
            <a:pPr indent="-285750" lvl="0" marL="285750" marR="0" rtl="0" algn="l">
              <a:spcBef>
                <a:spcPts val="0"/>
              </a:spcBef>
              <a:spcAft>
                <a:spcPts val="0"/>
              </a:spcAft>
              <a:buClr>
                <a:srgbClr val="F3F3F3"/>
              </a:buClr>
              <a:buSzPts val="1600"/>
              <a:buFont typeface="Arial"/>
              <a:buChar char="•"/>
            </a:pPr>
            <a:r>
              <a:rPr b="0" i="0" lang="en-US" sz="1600">
                <a:solidFill>
                  <a:srgbClr val="F3F3F3"/>
                </a:solidFill>
                <a:latin typeface="Arial"/>
                <a:ea typeface="Arial"/>
                <a:cs typeface="Arial"/>
                <a:sym typeface="Arial"/>
              </a:rPr>
              <a:t>In addition to clothing rentals, we offer formal accessories along side clothing rental—to meet a wide range of needs.</a:t>
            </a:r>
            <a:endParaRPr/>
          </a:p>
          <a:p>
            <a:pPr indent="0" lvl="0" marL="0" marR="0" rtl="0" algn="l">
              <a:spcBef>
                <a:spcPts val="0"/>
              </a:spcBef>
              <a:spcAft>
                <a:spcPts val="0"/>
              </a:spcAft>
              <a:buClr>
                <a:schemeClr val="dk1"/>
              </a:buClr>
              <a:buSzPts val="1600"/>
              <a:buFont typeface="Arial"/>
              <a:buNone/>
            </a:pPr>
            <a:r>
              <a:t/>
            </a:r>
            <a:endParaRPr b="0" i="0" sz="1600">
              <a:solidFill>
                <a:srgbClr val="F3F3F3"/>
              </a:solidFill>
              <a:latin typeface="Arial"/>
              <a:ea typeface="Arial"/>
              <a:cs typeface="Arial"/>
              <a:sym typeface="Arial"/>
            </a:endParaRPr>
          </a:p>
          <a:p>
            <a:pPr indent="-285750" lvl="0" marL="285750" marR="0" rtl="0" algn="l">
              <a:spcBef>
                <a:spcPts val="0"/>
              </a:spcBef>
              <a:spcAft>
                <a:spcPts val="0"/>
              </a:spcAft>
              <a:buClr>
                <a:srgbClr val="F3F3F3"/>
              </a:buClr>
              <a:buSzPts val="1600"/>
              <a:buFont typeface="Arial"/>
              <a:buChar char="•"/>
            </a:pPr>
            <a:r>
              <a:rPr b="0" i="0" lang="en-US" sz="1600">
                <a:solidFill>
                  <a:srgbClr val="F3F3F3"/>
                </a:solidFill>
                <a:latin typeface="Arial"/>
                <a:ea typeface="Arial"/>
                <a:cs typeface="Arial"/>
                <a:sym typeface="Arial"/>
              </a:rPr>
              <a:t>We provide fit guidance and basic tailoring services where available, making our service accessible and responsive. </a:t>
            </a:r>
            <a:endParaRPr/>
          </a:p>
          <a:p>
            <a:pPr indent="0" lvl="0" marL="0" marR="0" rtl="0" algn="l">
              <a:spcBef>
                <a:spcPts val="0"/>
              </a:spcBef>
              <a:spcAft>
                <a:spcPts val="0"/>
              </a:spcAft>
              <a:buClr>
                <a:schemeClr val="dk1"/>
              </a:buClr>
              <a:buSzPts val="1600"/>
              <a:buFont typeface="Arial"/>
              <a:buNone/>
            </a:pPr>
            <a:r>
              <a:t/>
            </a:r>
            <a:endParaRPr sz="1600">
              <a:solidFill>
                <a:srgbClr val="F3F3F3"/>
              </a:solidFill>
              <a:latin typeface="Arial"/>
              <a:ea typeface="Arial"/>
              <a:cs typeface="Arial"/>
              <a:sym typeface="Arial"/>
            </a:endParaRPr>
          </a:p>
          <a:p>
            <a:pPr indent="-285750" lvl="0" marL="285750" marR="0" rtl="0" algn="l">
              <a:spcBef>
                <a:spcPts val="0"/>
              </a:spcBef>
              <a:spcAft>
                <a:spcPts val="0"/>
              </a:spcAft>
              <a:buClr>
                <a:srgbClr val="F3F3F3"/>
              </a:buClr>
              <a:buSzPts val="1600"/>
              <a:buFont typeface="Arial"/>
              <a:buChar char="•"/>
            </a:pPr>
            <a:r>
              <a:rPr b="0" i="0" lang="en-US" sz="1600">
                <a:solidFill>
                  <a:srgbClr val="F3F3F3"/>
                </a:solidFill>
                <a:latin typeface="Arial"/>
                <a:ea typeface="Arial"/>
                <a:cs typeface="Arial"/>
                <a:sym typeface="Arial"/>
              </a:rPr>
              <a:t>Customers can place orders online, choose campus pickup or local delivery in supported cities, and access prompt assistance through localized customer support. </a:t>
            </a:r>
            <a:endParaRPr/>
          </a:p>
          <a:p>
            <a:pPr indent="0" lvl="0" marL="0" marR="0" rtl="0" algn="l">
              <a:spcBef>
                <a:spcPts val="0"/>
              </a:spcBef>
              <a:spcAft>
                <a:spcPts val="0"/>
              </a:spcAft>
              <a:buClr>
                <a:schemeClr val="dk1"/>
              </a:buClr>
              <a:buSzPts val="1600"/>
              <a:buFont typeface="Arial"/>
              <a:buNone/>
            </a:pPr>
            <a:r>
              <a:t/>
            </a:r>
            <a:endParaRPr b="0" i="0" sz="1600">
              <a:solidFill>
                <a:srgbClr val="F3F3F3"/>
              </a:solidFill>
              <a:latin typeface="Arial"/>
              <a:ea typeface="Arial"/>
              <a:cs typeface="Arial"/>
              <a:sym typeface="Arial"/>
            </a:endParaRPr>
          </a:p>
          <a:p>
            <a:pPr indent="-285750" lvl="0" marL="285750" marR="0" rtl="0" algn="l">
              <a:spcBef>
                <a:spcPts val="0"/>
              </a:spcBef>
              <a:spcAft>
                <a:spcPts val="0"/>
              </a:spcAft>
              <a:buClr>
                <a:srgbClr val="F3F3F3"/>
              </a:buClr>
              <a:buSzPts val="1600"/>
              <a:buFont typeface="Arial"/>
              <a:buChar char="•"/>
            </a:pPr>
            <a:r>
              <a:rPr b="0" i="0" lang="en-US" sz="1600">
                <a:solidFill>
                  <a:srgbClr val="F3F3F3"/>
                </a:solidFill>
                <a:latin typeface="Arial"/>
                <a:ea typeface="Arial"/>
                <a:cs typeface="Arial"/>
                <a:sym typeface="Arial"/>
              </a:rPr>
              <a:t>We make professional dressing simple, affordable, and reliable for students around the world.</a:t>
            </a:r>
            <a:endParaRPr/>
          </a:p>
          <a:p>
            <a:pPr indent="0" lvl="0" marL="0" marR="0" rtl="0" algn="l">
              <a:spcBef>
                <a:spcPts val="0"/>
              </a:spcBef>
              <a:spcAft>
                <a:spcPts val="0"/>
              </a:spcAft>
              <a:buNone/>
            </a:pPr>
            <a:r>
              <a:t/>
            </a:r>
            <a:endParaRPr sz="1600">
              <a:solidFill>
                <a:schemeClr val="dk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914399" y="365125"/>
            <a:ext cx="11180906" cy="16465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800"/>
              <a:buFont typeface="Arial"/>
              <a:buNone/>
            </a:pPr>
            <a:r>
              <a:rPr b="0" i="0" lang="en-US" sz="2800" u="none" cap="none" strike="noStrike">
                <a:solidFill>
                  <a:schemeClr val="dk1"/>
                </a:solidFill>
                <a:latin typeface="Arial"/>
                <a:ea typeface="Arial"/>
                <a:cs typeface="Arial"/>
                <a:sym typeface="Arial"/>
              </a:rPr>
              <a:t>VISION STATEMENT, MISSION STATEMENT, CORE VALUES </a:t>
            </a:r>
            <a:endParaRPr/>
          </a:p>
        </p:txBody>
      </p:sp>
      <p:sp>
        <p:nvSpPr>
          <p:cNvPr id="116" name="Google Shape;116;p4"/>
          <p:cNvSpPr txBox="1"/>
          <p:nvPr>
            <p:ph idx="1" type="body"/>
          </p:nvPr>
        </p:nvSpPr>
        <p:spPr>
          <a:xfrm>
            <a:off x="914399" y="2011363"/>
            <a:ext cx="7273638" cy="4155757"/>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Vision statement</a:t>
            </a:r>
            <a:r>
              <a:rPr b="0" i="0" lang="en-US" sz="2000" u="none" cap="none" strike="noStrike">
                <a:solidFill>
                  <a:schemeClr val="dk1"/>
                </a:solidFill>
                <a:latin typeface="Arial"/>
                <a:ea typeface="Arial"/>
                <a:cs typeface="Arial"/>
                <a:sym typeface="Arial"/>
              </a:rPr>
              <a:t>：Brightness to the brightest</a:t>
            </a:r>
            <a:endParaRPr/>
          </a:p>
          <a:p>
            <a:pPr indent="-139700" lvl="0" marL="228600" rtl="0" algn="l">
              <a:lnSpc>
                <a:spcPct val="90000"/>
              </a:lnSpc>
              <a:spcBef>
                <a:spcPts val="1200"/>
              </a:spcBef>
              <a:spcAft>
                <a:spcPts val="0"/>
              </a:spcAft>
              <a:buClr>
                <a:schemeClr val="dk1"/>
              </a:buClr>
              <a:buSzPct val="100000"/>
              <a:buNone/>
            </a:pPr>
            <a:r>
              <a:t/>
            </a:r>
            <a:endParaRPr b="1" i="0" sz="2000" u="none" cap="none" strike="noStrike">
              <a:solidFill>
                <a:schemeClr val="dk1"/>
              </a:solidFill>
              <a:latin typeface="Arial"/>
              <a:ea typeface="Arial"/>
              <a:cs typeface="Arial"/>
              <a:sym typeface="Arial"/>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Mission statement：</a:t>
            </a:r>
            <a:r>
              <a:rPr b="0" i="0" lang="en-US" sz="2000" u="none" cap="none" strike="noStrike">
                <a:solidFill>
                  <a:schemeClr val="dk1"/>
                </a:solidFill>
                <a:latin typeface="Arial"/>
                <a:ea typeface="Arial"/>
                <a:cs typeface="Arial"/>
                <a:sym typeface="Arial"/>
              </a:rPr>
              <a:t>Provide cost-effective, stylish formal clothing to university students worldwide through a student-oriented rental service.</a:t>
            </a:r>
            <a:endParaRPr/>
          </a:p>
          <a:p>
            <a:pPr indent="-139700" lvl="0" marL="228600" rtl="0" algn="l">
              <a:lnSpc>
                <a:spcPct val="90000"/>
              </a:lnSpc>
              <a:spcBef>
                <a:spcPts val="1200"/>
              </a:spcBef>
              <a:spcAft>
                <a:spcPts val="0"/>
              </a:spcAft>
              <a:buClr>
                <a:schemeClr val="dk1"/>
              </a:buClr>
              <a:buSzPct val="100000"/>
              <a:buNone/>
            </a:pPr>
            <a:r>
              <a:t/>
            </a:r>
            <a:endParaRPr b="1" i="0" sz="2000" u="none" cap="none" strike="noStrike">
              <a:solidFill>
                <a:schemeClr val="dk1"/>
              </a:solidFill>
              <a:latin typeface="Arial"/>
              <a:ea typeface="Arial"/>
              <a:cs typeface="Arial"/>
              <a:sym typeface="Arial"/>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Core values</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We keep prices fair so dressing professionally is accessible to all students.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We offer a wide selection of high‑quality formal clothing to meet diverse needs and occasions, delivered cost‑effectively through our rental service.</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By prioritizing rentals and garment care, we help reduce material waste and promote more sustainable consumption.</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We provide meaningful internship and employment opportunities for students and recent graduates, supporting skill development and early career growth across our global locations.</a:t>
            </a:r>
            <a:endParaRPr/>
          </a:p>
          <a:p>
            <a:pPr indent="-139700" lvl="0" marL="228600" rtl="0" algn="l">
              <a:lnSpc>
                <a:spcPct val="90000"/>
              </a:lnSpc>
              <a:spcBef>
                <a:spcPts val="1200"/>
              </a:spcBef>
              <a:spcAft>
                <a:spcPts val="0"/>
              </a:spcAft>
              <a:buClr>
                <a:schemeClr val="dk1"/>
              </a:buClr>
              <a:buSzPct val="100000"/>
              <a:buNone/>
            </a:pPr>
            <a:r>
              <a:t/>
            </a:r>
            <a:endParaRPr b="0" i="0" sz="2000" u="none" cap="none" strike="noStrike">
              <a:solidFill>
                <a:schemeClr val="dk1"/>
              </a:solidFill>
              <a:latin typeface="Arial"/>
              <a:ea typeface="Arial"/>
              <a:cs typeface="Arial"/>
              <a:sym typeface="Arial"/>
            </a:endParaRPr>
          </a:p>
        </p:txBody>
      </p:sp>
      <p:sp>
        <p:nvSpPr>
          <p:cNvPr id="117" name="Google Shape;117;p4"/>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118" name="Google Shape;118;p4"/>
          <p:cNvPicPr preferRelativeResize="0"/>
          <p:nvPr/>
        </p:nvPicPr>
        <p:blipFill rotWithShape="1">
          <a:blip r:embed="rId3">
            <a:alphaModFix/>
          </a:blip>
          <a:srcRect b="0" l="0" r="0" t="0"/>
          <a:stretch/>
        </p:blipFill>
        <p:spPr>
          <a:xfrm>
            <a:off x="8038369" y="1551567"/>
            <a:ext cx="4206605" cy="4212701"/>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5"/>
          <p:cNvSpPr txBox="1"/>
          <p:nvPr>
            <p:ph type="title"/>
          </p:nvPr>
        </p:nvSpPr>
        <p:spPr>
          <a:xfrm>
            <a:off x="914399" y="365125"/>
            <a:ext cx="11180906" cy="164655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FINANCIAL AND STRATEGIC OBJECTIVES</a:t>
            </a:r>
            <a:endParaRPr b="0" i="0" sz="2800" u="none" cap="none" strike="noStrike">
              <a:solidFill>
                <a:schemeClr val="dk1"/>
              </a:solidFill>
              <a:latin typeface="Arial"/>
              <a:ea typeface="Arial"/>
              <a:cs typeface="Arial"/>
              <a:sym typeface="Arial"/>
            </a:endParaRPr>
          </a:p>
        </p:txBody>
      </p:sp>
      <p:sp>
        <p:nvSpPr>
          <p:cNvPr id="125" name="Google Shape;125;p5"/>
          <p:cNvSpPr txBox="1"/>
          <p:nvPr>
            <p:ph idx="1" type="body"/>
          </p:nvPr>
        </p:nvSpPr>
        <p:spPr>
          <a:xfrm>
            <a:off x="914399" y="2011363"/>
            <a:ext cx="7273638" cy="4155757"/>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Financial Object</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 </a:t>
            </a:r>
            <a:r>
              <a:rPr b="0" i="0" lang="en-US" sz="2000" u="none" cap="none" strike="noStrike">
                <a:solidFill>
                  <a:schemeClr val="dk1"/>
                </a:solidFill>
                <a:latin typeface="Arial"/>
                <a:ea typeface="Arial"/>
                <a:cs typeface="Arial"/>
                <a:sym typeface="Arial"/>
              </a:rPr>
              <a:t>Target annual revenue of $300,000–$600,000 in FY2027 as a growing, student-run business operating across multiple international campuses.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 Achieve ROIC of 12%–15% by the end of Year 3 through disciplined inventory turns, regional cleaning partners, and lean logistics.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 Reach annual net income of $60,000–$100,000 (10%–14% net margin) by the end of Year 3 while keeping pricing student-friendly.</a:t>
            </a:r>
            <a:endParaRPr b="0" i="0" sz="2000" u="none" cap="none" strike="noStrike">
              <a:solidFill>
                <a:schemeClr val="dk1"/>
              </a:solidFill>
              <a:latin typeface="Arial"/>
              <a:ea typeface="Arial"/>
              <a:cs typeface="Arial"/>
              <a:sym typeface="Arial"/>
            </a:endParaRPr>
          </a:p>
          <a:p>
            <a:pPr indent="-139700" lvl="0" marL="228600" rtl="0" algn="l">
              <a:lnSpc>
                <a:spcPct val="90000"/>
              </a:lnSpc>
              <a:spcBef>
                <a:spcPts val="1200"/>
              </a:spcBef>
              <a:spcAft>
                <a:spcPts val="0"/>
              </a:spcAft>
              <a:buClr>
                <a:schemeClr val="dk1"/>
              </a:buClr>
              <a:buSzPct val="100000"/>
              <a:buNone/>
            </a:pPr>
            <a:r>
              <a:t/>
            </a:r>
            <a:endParaRPr b="1" i="0" sz="2000" u="none" cap="none" strike="noStrike">
              <a:solidFill>
                <a:schemeClr val="dk1"/>
              </a:solidFill>
              <a:latin typeface="Arial"/>
              <a:ea typeface="Arial"/>
              <a:cs typeface="Arial"/>
              <a:sym typeface="Arial"/>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Strategic objectives</a:t>
            </a:r>
            <a:r>
              <a:rPr b="0" i="0" lang="en-US" sz="2000" u="none" cap="none" strike="noStrike">
                <a:solidFill>
                  <a:schemeClr val="dk1"/>
                </a:solidFill>
                <a:latin typeface="Arial"/>
                <a:ea typeface="Arial"/>
                <a:cs typeface="Arial"/>
                <a:sym typeface="Arial"/>
              </a:rPr>
              <a:t>：</a:t>
            </a:r>
            <a:endParaRPr b="0" i="0" sz="2000" u="none" cap="none" strike="noStrike">
              <a:solidFill>
                <a:schemeClr val="dk1"/>
              </a:solidFill>
              <a:latin typeface="Arial"/>
              <a:ea typeface="Arial"/>
              <a:cs typeface="Arial"/>
              <a:sym typeface="Arial"/>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Achieve 300–500 weekly active viewers across our global social channels within the first month, focusing on 3–5 priority campuses.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Reach 10%–15% market share in each target campus/city by the end of Year 3, with localized pricing and partnerships.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Acquire 80–120 new customers per month during the first year of expansion, driven by campus ambassadors, referral programs, and event pop-ups.</a:t>
            </a:r>
            <a:endParaRPr/>
          </a:p>
          <a:p>
            <a:pPr indent="-139700" lvl="0" marL="228600" rtl="0" algn="l">
              <a:lnSpc>
                <a:spcPct val="90000"/>
              </a:lnSpc>
              <a:spcBef>
                <a:spcPts val="1200"/>
              </a:spcBef>
              <a:spcAft>
                <a:spcPts val="0"/>
              </a:spcAft>
              <a:buClr>
                <a:schemeClr val="dk1"/>
              </a:buClr>
              <a:buSzPct val="100000"/>
              <a:buNone/>
            </a:pPr>
            <a:r>
              <a:t/>
            </a:r>
            <a:endParaRPr b="0" i="0" sz="2000" u="none" cap="none" strike="noStrike">
              <a:solidFill>
                <a:schemeClr val="dk1"/>
              </a:solidFill>
              <a:latin typeface="Arial"/>
              <a:ea typeface="Arial"/>
              <a:cs typeface="Arial"/>
              <a:sym typeface="Arial"/>
            </a:endParaRPr>
          </a:p>
        </p:txBody>
      </p:sp>
      <p:sp>
        <p:nvSpPr>
          <p:cNvPr id="126" name="Google Shape;126;p5"/>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127" name="Google Shape;127;p5"/>
          <p:cNvPicPr preferRelativeResize="0"/>
          <p:nvPr/>
        </p:nvPicPr>
        <p:blipFill rotWithShape="1">
          <a:blip r:embed="rId3">
            <a:alphaModFix/>
          </a:blip>
          <a:srcRect b="0" l="0" r="0" t="0"/>
          <a:stretch/>
        </p:blipFill>
        <p:spPr>
          <a:xfrm>
            <a:off x="7983299" y="1932229"/>
            <a:ext cx="4208701" cy="42087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6"/>
          <p:cNvSpPr txBox="1"/>
          <p:nvPr>
            <p:ph type="title"/>
          </p:nvPr>
        </p:nvSpPr>
        <p:spPr>
          <a:xfrm>
            <a:off x="914399" y="365126"/>
            <a:ext cx="11136762" cy="1646238"/>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CORPORATE SOCIAL RESPONSIBILITY KEY INITIATIVES AND</a:t>
            </a:r>
            <a:r>
              <a:rPr b="0" i="0" lang="en-US" sz="2000" u="none" cap="none" strike="noStrike">
                <a:solidFill>
                  <a:schemeClr val="dk1"/>
                </a:solidFill>
                <a:latin typeface="Arial"/>
                <a:ea typeface="Arial"/>
                <a:cs typeface="Arial"/>
                <a:sym typeface="Arial"/>
              </a:rPr>
              <a:t> </a:t>
            </a:r>
            <a:r>
              <a:rPr b="0" i="0" lang="en-US" sz="2400" u="none" cap="none" strike="noStrike">
                <a:solidFill>
                  <a:schemeClr val="dk1"/>
                </a:solidFill>
                <a:latin typeface="Arial"/>
                <a:ea typeface="Arial"/>
                <a:cs typeface="Arial"/>
                <a:sym typeface="Arial"/>
              </a:rPr>
              <a:t>RATIONALE</a:t>
            </a:r>
            <a:endParaRPr b="1" i="0" sz="2000" u="none" cap="none" strike="noStrike">
              <a:solidFill>
                <a:schemeClr val="dk1"/>
              </a:solidFill>
              <a:latin typeface="Arial"/>
              <a:ea typeface="Arial"/>
              <a:cs typeface="Arial"/>
              <a:sym typeface="Arial"/>
            </a:endParaRPr>
          </a:p>
        </p:txBody>
      </p:sp>
      <p:sp>
        <p:nvSpPr>
          <p:cNvPr id="134" name="Google Shape;134;p6"/>
          <p:cNvSpPr txBox="1"/>
          <p:nvPr>
            <p:ph idx="1" type="body"/>
          </p:nvPr>
        </p:nvSpPr>
        <p:spPr>
          <a:xfrm>
            <a:off x="914398" y="2011363"/>
            <a:ext cx="7315201" cy="4531105"/>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Implement sustainable sourcing (organic cotton, recycled fabrics)</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Rationale: Reduces waste and carbon footprint, strengthens trust with community stakeholders, and differentiates brand with credible sustainability practices.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LGBTQ+ friendly selection of clothing</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Rationale: Expands reach to a large, diverse customer base; signals inclusion; aligns with global campus values and advocacy groups.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Hire university students (including work-study where available) in each market</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Rationale: Creates equitable access to paid experience, builds pride and advocacy among students/alumni, and improves service through a mission-aligned workforce.</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Gender equality in hiring, pay, and leadership pathways</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Rationale: Ensures fair representation and equal pay for equal work, widens talent pipeline, and enhances decision quality and brand perception across global campuses.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Environmental protection through circular operations</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Rationale: Extend product life via repair/refurbishment, offer garment take-back and recycling, and set targets to cut water/energy use in cleaning—lowering costs and emissions while meeting global sustainability expectations.</a:t>
            </a:r>
            <a:endParaRPr/>
          </a:p>
          <a:p>
            <a:pPr indent="-139700" lvl="0" marL="228600" rtl="0" algn="l">
              <a:lnSpc>
                <a:spcPct val="90000"/>
              </a:lnSpc>
              <a:spcBef>
                <a:spcPts val="1200"/>
              </a:spcBef>
              <a:spcAft>
                <a:spcPts val="0"/>
              </a:spcAft>
              <a:buClr>
                <a:schemeClr val="dk1"/>
              </a:buClr>
              <a:buSzPct val="100000"/>
              <a:buNone/>
            </a:pPr>
            <a:r>
              <a:t/>
            </a:r>
            <a:endParaRPr b="0" i="0" sz="2000" u="none" cap="none" strike="noStrike">
              <a:solidFill>
                <a:schemeClr val="dk1"/>
              </a:solidFill>
              <a:latin typeface="Arial"/>
              <a:ea typeface="Arial"/>
              <a:cs typeface="Arial"/>
              <a:sym typeface="Arial"/>
            </a:endParaRPr>
          </a:p>
        </p:txBody>
      </p:sp>
      <p:sp>
        <p:nvSpPr>
          <p:cNvPr id="135" name="Google Shape;135;p6"/>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136" name="Google Shape;136;p6"/>
          <p:cNvPicPr preferRelativeResize="0"/>
          <p:nvPr/>
        </p:nvPicPr>
        <p:blipFill rotWithShape="1">
          <a:blip r:embed="rId3">
            <a:alphaModFix/>
          </a:blip>
          <a:srcRect b="0" l="0" r="0" t="0"/>
          <a:stretch/>
        </p:blipFill>
        <p:spPr>
          <a:xfrm>
            <a:off x="8229599" y="1946670"/>
            <a:ext cx="4206605" cy="420660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7"/>
          <p:cNvSpPr txBox="1"/>
          <p:nvPr>
            <p:ph type="title"/>
          </p:nvPr>
        </p:nvSpPr>
        <p:spPr>
          <a:xfrm>
            <a:off x="914399" y="365125"/>
            <a:ext cx="10363201" cy="16296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NEW PRODUCT/SERVICE</a:t>
            </a:r>
            <a:endParaRPr b="0" i="0" sz="3200" u="none" cap="none" strike="noStrike">
              <a:solidFill>
                <a:schemeClr val="dk1"/>
              </a:solidFill>
              <a:latin typeface="Arial"/>
              <a:ea typeface="Arial"/>
              <a:cs typeface="Arial"/>
              <a:sym typeface="Arial"/>
            </a:endParaRPr>
          </a:p>
        </p:txBody>
      </p:sp>
      <p:sp>
        <p:nvSpPr>
          <p:cNvPr id="143" name="Google Shape;143;p7"/>
          <p:cNvSpPr txBox="1"/>
          <p:nvPr>
            <p:ph idx="1" type="body"/>
          </p:nvPr>
        </p:nvSpPr>
        <p:spPr>
          <a:xfrm>
            <a:off x="914399" y="2022249"/>
            <a:ext cx="5411337" cy="4470625"/>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400"/>
              <a:buChar char="•"/>
            </a:pPr>
            <a:r>
              <a:rPr b="0" i="0" lang="en-US" sz="2400" u="none" cap="none" strike="noStrike">
                <a:solidFill>
                  <a:schemeClr val="dk1"/>
                </a:solidFill>
                <a:latin typeface="Arial"/>
                <a:ea typeface="Arial"/>
                <a:cs typeface="Arial"/>
                <a:sym typeface="Arial"/>
              </a:rPr>
              <a:t>Offer optional delivery and pickup for rentals across all operating regions for an added fee, providing consistent, convenient service to customers globally while accommodating local logistics and pricing.</a:t>
            </a:r>
            <a:endParaRPr/>
          </a:p>
          <a:p>
            <a:pPr indent="-101600" lvl="0" marL="228600" marR="0" rtl="0" algn="l">
              <a:lnSpc>
                <a:spcPct val="90000"/>
              </a:lnSpc>
              <a:spcBef>
                <a:spcPts val="1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101600" lvl="0" marL="228600" marR="0" rtl="0" algn="l">
              <a:lnSpc>
                <a:spcPct val="90000"/>
              </a:lnSpc>
              <a:spcBef>
                <a:spcPts val="1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44" name="Google Shape;144;p7"/>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145" name="Google Shape;145;p7"/>
          <p:cNvPicPr preferRelativeResize="0"/>
          <p:nvPr/>
        </p:nvPicPr>
        <p:blipFill rotWithShape="1">
          <a:blip r:embed="rId3">
            <a:alphaModFix/>
          </a:blip>
          <a:srcRect b="0" l="0" r="0" t="0"/>
          <a:stretch/>
        </p:blipFill>
        <p:spPr>
          <a:xfrm>
            <a:off x="6844352" y="1381788"/>
            <a:ext cx="5111087" cy="511108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p8"/>
          <p:cNvSpPr txBox="1"/>
          <p:nvPr>
            <p:ph type="title"/>
          </p:nvPr>
        </p:nvSpPr>
        <p:spPr>
          <a:xfrm>
            <a:off x="914399" y="365125"/>
            <a:ext cx="10363201" cy="1629601"/>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NATIONAL EXPANSION DECISION, APPROACH, AND RATIONALE</a:t>
            </a:r>
            <a:endParaRPr b="0" i="0" sz="3200" u="none" cap="none" strike="noStrike">
              <a:solidFill>
                <a:schemeClr val="dk1"/>
              </a:solidFill>
              <a:latin typeface="Arial"/>
              <a:ea typeface="Arial"/>
              <a:cs typeface="Arial"/>
              <a:sym typeface="Arial"/>
            </a:endParaRPr>
          </a:p>
        </p:txBody>
      </p:sp>
      <p:sp>
        <p:nvSpPr>
          <p:cNvPr id="152" name="Google Shape;152;p8"/>
          <p:cNvSpPr txBox="1"/>
          <p:nvPr>
            <p:ph idx="1" type="body"/>
          </p:nvPr>
        </p:nvSpPr>
        <p:spPr>
          <a:xfrm>
            <a:off x="914399" y="2022249"/>
            <a:ext cx="5411337" cy="4470625"/>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Raise Capital </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Emphasize diversified, region-aware funding: combine founder capital with small seed rounds from alumni/angel networks across regions, plus grants for sustainability and student entrepreneurship.</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Maintain strategic control: use non-dilutive funds (grants, revenue-based financing) and capped SAFE notes to preserve decision-making while scaling internationally.</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Unlock economies of scale: aggregate cross-region purchasing, centralized tech/operations, and multi-market supplier contracts to reduce unit costs.</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Capture full earnings uplift: retain majority ownership to consolidate profits from all regions, reinvesting in market launches, localization, and compliance.</a:t>
            </a:r>
            <a:endParaRPr/>
          </a:p>
          <a:p>
            <a:pPr indent="-120650" lvl="0" marL="22860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a:p>
            <a:pPr indent="-120650" lvl="0" marL="22860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153" name="Google Shape;153;p8"/>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154" name="Google Shape;154;p8"/>
          <p:cNvSpPr txBox="1"/>
          <p:nvPr/>
        </p:nvSpPr>
        <p:spPr>
          <a:xfrm>
            <a:off x="6095999" y="2022248"/>
            <a:ext cx="5411337" cy="4470625"/>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marR="0" rtl="0" algn="l">
              <a:lnSpc>
                <a:spcPct val="90000"/>
              </a:lnSpc>
              <a:spcBef>
                <a:spcPts val="0"/>
              </a:spcBef>
              <a:spcAft>
                <a:spcPts val="0"/>
              </a:spcAft>
              <a:buClr>
                <a:schemeClr val="dk1"/>
              </a:buClr>
              <a:buSzPct val="100000"/>
              <a:buFont typeface="Arial"/>
              <a:buChar char="•"/>
            </a:pPr>
            <a:r>
              <a:rPr lang="en-US" sz="2000">
                <a:solidFill>
                  <a:schemeClr val="dk1"/>
                </a:solidFill>
                <a:latin typeface="Arial"/>
                <a:ea typeface="Arial"/>
                <a:cs typeface="Arial"/>
                <a:sym typeface="Arial"/>
              </a:rPr>
              <a:t>National expansion offers strong, staged growth if executed carefully. Brand-driven categories reward early, consistent presence across regions; scaling internationally helps establish credibility before competitors localize similar models. To align with our expansion approach, we will:</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Rebrand once for a unified identity with localized adaptations ( sizing, cultural cues).</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Centralize tech, supply, and data while partnering locally for last-mile ops, student hiring, and community engagement.</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Budget for higher operating costs and compliance, funded via diversified, region-aware capital, while preserving strategic control.</a:t>
            </a:r>
            <a:endParaRPr/>
          </a:p>
          <a:p>
            <a:pPr indent="-228600" lvl="1" marL="685800" marR="0" rtl="0" algn="l">
              <a:lnSpc>
                <a:spcPct val="90000"/>
              </a:lnSpc>
              <a:spcBef>
                <a:spcPts val="1200"/>
              </a:spcBef>
              <a:spcAft>
                <a:spcPts val="0"/>
              </a:spcAft>
              <a:buClr>
                <a:schemeClr val="dk1"/>
              </a:buClr>
              <a:buSzPct val="100000"/>
              <a:buFont typeface="Arial"/>
              <a:buChar char="•"/>
            </a:pPr>
            <a:r>
              <a:rPr b="0" i="0" lang="en-US" sz="1800" u="none" cap="none" strike="noStrike">
                <a:solidFill>
                  <a:schemeClr val="dk1"/>
                </a:solidFill>
                <a:latin typeface="Arial"/>
                <a:ea typeface="Arial"/>
                <a:cs typeface="Arial"/>
                <a:sym typeface="Arial"/>
              </a:rPr>
              <a:t>Leverage economies of scale (multi-market suppliers, shared playbooks) to offset costs and protect margins.</a:t>
            </a:r>
            <a:endParaRPr/>
          </a:p>
          <a:p>
            <a:pPr indent="-120650" lvl="0" marL="228600" marR="0" rtl="0" algn="l">
              <a:lnSpc>
                <a:spcPct val="90000"/>
              </a:lnSpc>
              <a:spcBef>
                <a:spcPts val="1200"/>
              </a:spcBef>
              <a:spcAft>
                <a:spcPts val="0"/>
              </a:spcAft>
              <a:buClr>
                <a:schemeClr val="dk1"/>
              </a:buClr>
              <a:buSzPct val="100000"/>
              <a:buFont typeface="Arial"/>
              <a:buNone/>
            </a:pPr>
            <a:r>
              <a:t/>
            </a:r>
            <a:endParaRPr sz="2000">
              <a:solidFill>
                <a:schemeClr val="dk1"/>
              </a:solidFill>
              <a:latin typeface="Arial"/>
              <a:ea typeface="Arial"/>
              <a:cs typeface="Arial"/>
              <a:sym typeface="Arial"/>
            </a:endParaRPr>
          </a:p>
          <a:p>
            <a:pPr indent="-120650" lvl="0" marL="228600" marR="0" rtl="0" algn="l">
              <a:lnSpc>
                <a:spcPct val="90000"/>
              </a:lnSpc>
              <a:spcBef>
                <a:spcPts val="1200"/>
              </a:spcBef>
              <a:spcAft>
                <a:spcPts val="0"/>
              </a:spcAft>
              <a:buClr>
                <a:schemeClr val="dk1"/>
              </a:buClr>
              <a:buSzPct val="100000"/>
              <a:buFont typeface="Arial"/>
              <a:buNone/>
            </a:pPr>
            <a:r>
              <a:t/>
            </a:r>
            <a:endParaRPr sz="2000">
              <a:solidFill>
                <a:schemeClr val="dk1"/>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9"/>
          <p:cNvSpPr txBox="1"/>
          <p:nvPr>
            <p:ph type="title"/>
          </p:nvPr>
        </p:nvSpPr>
        <p:spPr>
          <a:xfrm>
            <a:off x="914398" y="365125"/>
            <a:ext cx="10439401" cy="161701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GLOBAL EXPANSION EXAMPLE: CANADA </a:t>
            </a:r>
            <a:endParaRPr/>
          </a:p>
        </p:txBody>
      </p:sp>
      <p:sp>
        <p:nvSpPr>
          <p:cNvPr id="161" name="Google Shape;161;p9"/>
          <p:cNvSpPr txBox="1"/>
          <p:nvPr>
            <p:ph idx="1" type="body"/>
          </p:nvPr>
        </p:nvSpPr>
        <p:spPr>
          <a:xfrm>
            <a:off x="914399" y="2022249"/>
            <a:ext cx="5181601" cy="4031709"/>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Opportunity</a:t>
            </a:r>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Easy entry into the market</a:t>
            </a:r>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Culturally similar to the U.S.</a:t>
            </a:r>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Stable political and economic environment</a:t>
            </a:r>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Strong IP protection, low corruption, and low crime rates</a:t>
            </a:r>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High urban concentration for efficient launch</a:t>
            </a:r>
            <a:endParaRPr/>
          </a:p>
          <a:p>
            <a:pPr indent="-228600" lvl="0" marL="228600" rtl="0" algn="l">
              <a:lnSpc>
                <a:spcPct val="90000"/>
              </a:lnSpc>
              <a:spcBef>
                <a:spcPts val="1200"/>
              </a:spcBef>
              <a:spcAft>
                <a:spcPts val="0"/>
              </a:spcAft>
              <a:buClr>
                <a:schemeClr val="dk1"/>
              </a:buClr>
              <a:buSzPct val="100000"/>
              <a:buChar char="•"/>
            </a:pPr>
            <a:r>
              <a:rPr b="1" i="0" lang="en-US" sz="2000" u="none" cap="none" strike="noStrike">
                <a:solidFill>
                  <a:schemeClr val="dk1"/>
                </a:solidFill>
                <a:latin typeface="Arial"/>
                <a:ea typeface="Arial"/>
                <a:cs typeface="Arial"/>
                <a:sym typeface="Arial"/>
              </a:rPr>
              <a:t>Strong university network for campus-focused growth</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Challenges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Well-established market with strong incumbents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May need to adjust products to Canada’s style or preferences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Higher logistics costs across large geography</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Seasonal demand shifts impacting inventory mix</a:t>
            </a:r>
            <a:endParaRPr/>
          </a:p>
          <a:p>
            <a:pPr indent="-149225" lvl="0" marL="228600" marR="0" rtl="0" algn="l">
              <a:lnSpc>
                <a:spcPct val="90000"/>
              </a:lnSpc>
              <a:spcBef>
                <a:spcPts val="1200"/>
              </a:spcBef>
              <a:spcAft>
                <a:spcPts val="0"/>
              </a:spcAft>
              <a:buClr>
                <a:schemeClr val="dk1"/>
              </a:buClr>
              <a:buSzPct val="100000"/>
              <a:buFont typeface="Arial"/>
              <a:buNone/>
            </a:pPr>
            <a:r>
              <a:t/>
            </a:r>
            <a:endParaRPr b="1" i="0" sz="2000" u="none" cap="none" strike="noStrike">
              <a:solidFill>
                <a:schemeClr val="dk1"/>
              </a:solidFill>
              <a:latin typeface="Arial"/>
              <a:ea typeface="Arial"/>
              <a:cs typeface="Arial"/>
              <a:sym typeface="Arial"/>
            </a:endParaRPr>
          </a:p>
        </p:txBody>
      </p:sp>
      <p:sp>
        <p:nvSpPr>
          <p:cNvPr id="162" name="Google Shape;162;p9"/>
          <p:cNvSpPr txBox="1"/>
          <p:nvPr>
            <p:ph idx="2" type="body"/>
          </p:nvPr>
        </p:nvSpPr>
        <p:spPr>
          <a:xfrm>
            <a:off x="6096000" y="2018120"/>
            <a:ext cx="5257799" cy="3747180"/>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000"/>
              <a:buChar char="•"/>
            </a:pPr>
            <a:r>
              <a:rPr b="0" i="0" lang="en-US" sz="2000" u="none" cap="none" strike="noStrike">
                <a:solidFill>
                  <a:schemeClr val="dk1"/>
                </a:solidFill>
                <a:latin typeface="Arial"/>
                <a:ea typeface="Arial"/>
                <a:cs typeface="Arial"/>
                <a:sym typeface="Arial"/>
              </a:rPr>
              <a:t>Rationale</a:t>
            </a:r>
            <a:endParaRPr/>
          </a:p>
          <a:p>
            <a:pPr indent="-228600" lvl="0" marL="228600" rtl="0" algn="l">
              <a:lnSpc>
                <a:spcPct val="90000"/>
              </a:lnSpc>
              <a:spcBef>
                <a:spcPts val="1200"/>
              </a:spcBef>
              <a:spcAft>
                <a:spcPts val="0"/>
              </a:spcAft>
              <a:buClr>
                <a:schemeClr val="dk1"/>
              </a:buClr>
              <a:buSzPts val="2000"/>
              <a:buChar char="•"/>
            </a:pPr>
            <a:r>
              <a:rPr b="0" i="0" lang="en-US" sz="2000" u="none" cap="none" strike="noStrike">
                <a:solidFill>
                  <a:schemeClr val="dk1"/>
                </a:solidFill>
                <a:latin typeface="Arial"/>
                <a:ea typeface="Arial"/>
                <a:cs typeface="Arial"/>
                <a:sym typeface="Arial"/>
              </a:rPr>
              <a:t>Canada offers the best balance of opportunity and safety; its stable democracy, cultural similarity to the U.S., and strong legal protections make it the most attractive option for RU Formal’s first international step, with dense urban hubs and campus channels enabling efficient, low-risk scaling.</a:t>
            </a:r>
            <a:endParaRPr/>
          </a:p>
          <a:p>
            <a:pPr indent="-101600" lvl="0" marL="228600" marR="0" rtl="0" algn="l">
              <a:lnSpc>
                <a:spcPct val="90000"/>
              </a:lnSpc>
              <a:spcBef>
                <a:spcPts val="1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163" name="Google Shape;163;p9"/>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0"/>
          <p:cNvSpPr txBox="1"/>
          <p:nvPr>
            <p:ph type="title"/>
          </p:nvPr>
        </p:nvSpPr>
        <p:spPr>
          <a:xfrm>
            <a:off x="914398" y="365125"/>
            <a:ext cx="10439401" cy="161701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EXPANSION STRATEGY</a:t>
            </a:r>
            <a:endParaRPr b="0" i="0" sz="3200" u="none" cap="none" strike="noStrike">
              <a:solidFill>
                <a:schemeClr val="dk1"/>
              </a:solidFill>
              <a:latin typeface="Arial"/>
              <a:ea typeface="Arial"/>
              <a:cs typeface="Arial"/>
              <a:sym typeface="Arial"/>
            </a:endParaRPr>
          </a:p>
        </p:txBody>
      </p:sp>
      <p:sp>
        <p:nvSpPr>
          <p:cNvPr id="170" name="Google Shape;170;p10"/>
          <p:cNvSpPr txBox="1"/>
          <p:nvPr>
            <p:ph idx="1" type="body"/>
          </p:nvPr>
        </p:nvSpPr>
        <p:spPr>
          <a:xfrm>
            <a:off x="914399" y="2022249"/>
            <a:ext cx="5181601" cy="4031709"/>
          </a:xfrm>
          <a:prstGeom prst="rect">
            <a:avLst/>
          </a:prstGeom>
          <a:noFill/>
          <a:ln>
            <a:noFill/>
          </a:ln>
        </p:spPr>
        <p:txBody>
          <a:bodyPr anchorCtr="0" anchor="t" bIns="45700" lIns="91425" spcFirstLastPara="1" rIns="91425" wrap="square" tIns="45700">
            <a:normAutofit fontScale="85000" lnSpcReduction="10000"/>
          </a:bodyPr>
          <a:lstStyle/>
          <a:p>
            <a:pPr indent="-228600" lvl="0" marL="228600" rtl="0" algn="l">
              <a:lnSpc>
                <a:spcPct val="90000"/>
              </a:lnSpc>
              <a:spcBef>
                <a:spcPts val="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Customization</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For RU Formal, tailoring the rental clothing line for the Canadian market is the most suitable approach. Canadian students participate in similar professional events as U.S. students, but may prefer different fits, colors, and styles that reflect local preferences and cultural norms. By customizing, RU Formal can strengthen its brand positioning in a respectful, inclusive, and globally consistent way. This approach is more appealing to new customers, helps capture attention quickly during market entry, and supports a stable, scalable presence across regions through localized assortments, sizing, and messaging aligned with our global standards.</a:t>
            </a:r>
            <a:endParaRPr/>
          </a:p>
          <a:p>
            <a:pPr indent="-120650" lvl="0" marL="228600" marR="0" rtl="0" algn="l">
              <a:lnSpc>
                <a:spcPct val="90000"/>
              </a:lnSpc>
              <a:spcBef>
                <a:spcPts val="1200"/>
              </a:spcBef>
              <a:spcAft>
                <a:spcPts val="0"/>
              </a:spcAft>
              <a:buClr>
                <a:schemeClr val="dk1"/>
              </a:buClr>
              <a:buSzPct val="100000"/>
              <a:buFont typeface="Arial"/>
              <a:buNone/>
            </a:pPr>
            <a:r>
              <a:t/>
            </a:r>
            <a:endParaRPr b="1" i="0" sz="2000" u="none" cap="none" strike="noStrike">
              <a:solidFill>
                <a:schemeClr val="dk1"/>
              </a:solidFill>
              <a:latin typeface="Arial"/>
              <a:ea typeface="Arial"/>
              <a:cs typeface="Arial"/>
              <a:sym typeface="Arial"/>
            </a:endParaRPr>
          </a:p>
        </p:txBody>
      </p:sp>
      <p:sp>
        <p:nvSpPr>
          <p:cNvPr id="171" name="Google Shape;171;p10"/>
          <p:cNvSpPr txBox="1"/>
          <p:nvPr>
            <p:ph idx="2" type="body"/>
          </p:nvPr>
        </p:nvSpPr>
        <p:spPr>
          <a:xfrm>
            <a:off x="6096000" y="2018119"/>
            <a:ext cx="5683994" cy="4474755"/>
          </a:xfrm>
          <a:prstGeom prst="rect">
            <a:avLst/>
          </a:prstGeom>
          <a:noFill/>
          <a:ln>
            <a:noFill/>
          </a:ln>
        </p:spPr>
        <p:txBody>
          <a:bodyPr anchorCtr="0" anchor="t" bIns="45700" lIns="91425" spcFirstLastPara="1" rIns="91425" wrap="square" tIns="45700">
            <a:normAutofit fontScale="47500" lnSpcReduction="20000"/>
          </a:bodyPr>
          <a:lstStyle/>
          <a:p>
            <a:pPr indent="-228600" lvl="0" marL="228600" rtl="0" algn="l">
              <a:lnSpc>
                <a:spcPct val="90000"/>
              </a:lnSpc>
              <a:spcBef>
                <a:spcPts val="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Do-it-Yourself (DIY)  </a:t>
            </a:r>
            <a:endParaRPr/>
          </a:p>
          <a:p>
            <a:pPr indent="-228600" lvl="0" marL="228600" rtl="0" algn="l">
              <a:lnSpc>
                <a:spcPct val="90000"/>
              </a:lnSpc>
              <a:spcBef>
                <a:spcPts val="120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Rationale</a:t>
            </a:r>
            <a:endParaRPr/>
          </a:p>
          <a:p>
            <a:pPr indent="-228600" lvl="0" marL="228600" rtl="0" algn="l">
              <a:lnSpc>
                <a:spcPct val="90000"/>
              </a:lnSpc>
              <a:spcBef>
                <a:spcPts val="120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Strategic control: Retain full control of the business, set direction, and choose strategies that best reflect our goals, values, and global standards.</a:t>
            </a:r>
            <a:endParaRPr/>
          </a:p>
          <a:p>
            <a:pPr indent="-228600" lvl="0" marL="228600" rtl="0" algn="l">
              <a:lnSpc>
                <a:spcPct val="90000"/>
              </a:lnSpc>
              <a:spcBef>
                <a:spcPts val="120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Agility: Pivot quickly without external approvals, enabling faster response to market feedback across regions.</a:t>
            </a:r>
            <a:endParaRPr/>
          </a:p>
          <a:p>
            <a:pPr indent="-228600" lvl="0" marL="228600" rtl="0" algn="l">
              <a:lnSpc>
                <a:spcPct val="90000"/>
              </a:lnSpc>
              <a:spcBef>
                <a:spcPts val="120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Profit retention: Keep a greater share of earnings versus joint ventures or partnerships, allowing reinvestment in product, technology, and international expansion.</a:t>
            </a:r>
            <a:endParaRPr/>
          </a:p>
          <a:p>
            <a:pPr indent="-228600" lvl="0" marL="228600" rtl="0" algn="l">
              <a:lnSpc>
                <a:spcPct val="90000"/>
              </a:lnSpc>
              <a:spcBef>
                <a:spcPts val="120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Financing flexibility: Greater optionality to pursue non-dilutive funding and region-aware capital while preserving governance control.</a:t>
            </a:r>
            <a:endParaRPr/>
          </a:p>
          <a:p>
            <a:pPr indent="-228600" lvl="0" marL="228600" rtl="0" algn="l">
              <a:lnSpc>
                <a:spcPct val="90000"/>
              </a:lnSpc>
              <a:spcBef>
                <a:spcPts val="120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Cost discipline: Maintain low operational costs through centralized systems and phased market rollouts, aligning with a scalable global operating model.</a:t>
            </a:r>
            <a:endParaRPr/>
          </a:p>
          <a:p>
            <a:pPr indent="-228600" lvl="0" marL="228600" rtl="0" algn="l">
              <a:lnSpc>
                <a:spcPct val="90000"/>
              </a:lnSpc>
              <a:spcBef>
                <a:spcPts val="1200"/>
              </a:spcBef>
              <a:spcAft>
                <a:spcPts val="0"/>
              </a:spcAft>
              <a:buClr>
                <a:schemeClr val="dk1"/>
              </a:buClr>
              <a:buSzPct val="100000"/>
              <a:buChar char="•"/>
            </a:pPr>
            <a:r>
              <a:rPr b="0" i="0" lang="en-US" sz="2800" u="none" cap="none" strike="noStrike">
                <a:solidFill>
                  <a:schemeClr val="dk1"/>
                </a:solidFill>
                <a:latin typeface="Arial"/>
                <a:ea typeface="Arial"/>
                <a:cs typeface="Arial"/>
                <a:sym typeface="Arial"/>
              </a:rPr>
              <a:t>The DIY strategy provides the highest degree of control, agility, and profit retention, supporting disciplined global expansion while safeguarding brand consistency and financial sustainability.</a:t>
            </a:r>
            <a:endParaRPr/>
          </a:p>
          <a:p>
            <a:pPr indent="-168275" lvl="0" marL="22860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172" name="Google Shape;172;p10"/>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p11"/>
          <p:cNvSpPr txBox="1"/>
          <p:nvPr>
            <p:ph type="title"/>
          </p:nvPr>
        </p:nvSpPr>
        <p:spPr>
          <a:xfrm>
            <a:off x="916385" y="446313"/>
            <a:ext cx="5179615" cy="1448747"/>
          </a:xfrm>
          <a:prstGeom prst="rect">
            <a:avLst/>
          </a:prstGeom>
          <a:noFill/>
          <a:ln>
            <a:noFill/>
          </a:ln>
        </p:spPr>
        <p:txBody>
          <a:bodyPr anchorCtr="0" anchor="ctr" bIns="45700" lIns="91425" spcFirstLastPara="1" rIns="91425" wrap="square" tIns="45700">
            <a:normAutofit/>
          </a:bodyPr>
          <a:lstStyle/>
          <a:p>
            <a:pPr indent="0" lvl="0" marL="0" marR="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KEY POSITION: </a:t>
            </a:r>
            <a:br>
              <a:rPr b="0" i="0" lang="en-US" sz="3200" u="none" cap="none" strike="noStrike">
                <a:solidFill>
                  <a:schemeClr val="dk1"/>
                </a:solidFill>
                <a:latin typeface="Arial"/>
                <a:ea typeface="Arial"/>
                <a:cs typeface="Arial"/>
                <a:sym typeface="Arial"/>
              </a:rPr>
            </a:br>
            <a:r>
              <a:rPr b="0" i="0" lang="en-US" sz="3200" u="none" cap="none" strike="noStrike">
                <a:solidFill>
                  <a:schemeClr val="dk1"/>
                </a:solidFill>
                <a:latin typeface="Arial"/>
                <a:ea typeface="Arial"/>
                <a:cs typeface="Arial"/>
                <a:sym typeface="Arial"/>
              </a:rPr>
              <a:t>SALE ASSOCIATES</a:t>
            </a:r>
            <a:endParaRPr b="0" i="0" sz="3200" u="none" cap="none" strike="noStrike">
              <a:solidFill>
                <a:schemeClr val="dk1"/>
              </a:solidFill>
              <a:latin typeface="Arial"/>
              <a:ea typeface="Arial"/>
              <a:cs typeface="Arial"/>
              <a:sym typeface="Arial"/>
            </a:endParaRPr>
          </a:p>
        </p:txBody>
      </p:sp>
      <p:sp>
        <p:nvSpPr>
          <p:cNvPr id="179" name="Google Shape;179;p11"/>
          <p:cNvSpPr txBox="1"/>
          <p:nvPr>
            <p:ph idx="1" type="body"/>
          </p:nvPr>
        </p:nvSpPr>
        <p:spPr>
          <a:xfrm>
            <a:off x="914399" y="2022250"/>
            <a:ext cx="5181600" cy="3747180"/>
          </a:xfrm>
          <a:prstGeom prst="rect">
            <a:avLst/>
          </a:prstGeom>
          <a:noFill/>
          <a:ln>
            <a:noFill/>
          </a:ln>
        </p:spPr>
        <p:txBody>
          <a:bodyPr anchorCtr="0" anchor="t" bIns="45700" lIns="91425" spcFirstLastPara="1" rIns="91425" wrap="square" tIns="45700">
            <a:normAutofit fontScale="62500" lnSpcReduction="20000"/>
          </a:bodyPr>
          <a:lstStyle/>
          <a:p>
            <a:pPr indent="-228600" lvl="0" marL="228600" rtl="0" algn="l">
              <a:lnSpc>
                <a:spcPct val="90000"/>
              </a:lnSpc>
              <a:spcBef>
                <a:spcPts val="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Role focus: Daily customer service, merchandising, and inventory per global SOPs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Responsibilities: Assist customers; after-sales support; maintain store; receive/restock; collaborate; uphold brand, ethics, and data privacy</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Qualifications: Flexible schedule; strong communication; 1+ year team/customer service; digital literacy; stand/move stock safely</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Compensation: $25K base; 2% commission; health/dental (per local policy); performance rewards; employee discount; L&amp;D access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Recruiting: Handshake, LinkedIn, careers page, in-store QR sign, local boards; inclusive description and EEO</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Selection: Resume screen; “Why hire you?”; multi-round interviews; final role-play; references; structured rubric; manager decision</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Global alignment: Standardized tools, local law compliance, inclusive workplace, consistent onboarding and CX</a:t>
            </a:r>
            <a:endParaRPr/>
          </a:p>
          <a:p>
            <a:pPr indent="-149225" lvl="0" marL="228600" rtl="0" algn="l">
              <a:lnSpc>
                <a:spcPct val="90000"/>
              </a:lnSpc>
              <a:spcBef>
                <a:spcPts val="1200"/>
              </a:spcBef>
              <a:spcAft>
                <a:spcPts val="0"/>
              </a:spcAft>
              <a:buClr>
                <a:schemeClr val="dk1"/>
              </a:buClr>
              <a:buSzPct val="100000"/>
              <a:buNone/>
            </a:pPr>
            <a:r>
              <a:t/>
            </a:r>
            <a:endParaRPr b="0" i="0" sz="2000" u="none" cap="none" strike="noStrike">
              <a:solidFill>
                <a:schemeClr val="dk1"/>
              </a:solidFill>
              <a:latin typeface="Arial"/>
              <a:ea typeface="Arial"/>
              <a:cs typeface="Arial"/>
              <a:sym typeface="Arial"/>
            </a:endParaRPr>
          </a:p>
        </p:txBody>
      </p:sp>
      <p:sp>
        <p:nvSpPr>
          <p:cNvPr id="180" name="Google Shape;180;p11"/>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descr="两个人看着自己的手机" id="181" name="Google Shape;181;p11"/>
          <p:cNvPicPr preferRelativeResize="0"/>
          <p:nvPr>
            <p:ph idx="2" type="pic"/>
          </p:nvPr>
        </p:nvPicPr>
        <p:blipFill rotWithShape="1">
          <a:blip r:embed="rId3">
            <a:alphaModFix/>
          </a:blip>
          <a:srcRect b="0" l="81" r="81" t="0"/>
          <a:stretch/>
        </p:blipFill>
        <p:spPr>
          <a:xfrm>
            <a:off x="6076950" y="0"/>
            <a:ext cx="6115050" cy="686888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2"/>
          <p:cNvSpPr txBox="1"/>
          <p:nvPr>
            <p:ph type="title"/>
          </p:nvPr>
        </p:nvSpPr>
        <p:spPr>
          <a:xfrm>
            <a:off x="916385" y="446313"/>
            <a:ext cx="5179615" cy="144874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EMPLOYEE MOTIVATION INITIATIVES</a:t>
            </a:r>
            <a:endParaRPr b="0" i="0" sz="3200" u="none" cap="none" strike="noStrike">
              <a:solidFill>
                <a:schemeClr val="dk1"/>
              </a:solidFill>
              <a:latin typeface="Arial"/>
              <a:ea typeface="Arial"/>
              <a:cs typeface="Arial"/>
              <a:sym typeface="Arial"/>
            </a:endParaRPr>
          </a:p>
        </p:txBody>
      </p:sp>
      <p:sp>
        <p:nvSpPr>
          <p:cNvPr id="188" name="Google Shape;188;p12"/>
          <p:cNvSpPr txBox="1"/>
          <p:nvPr>
            <p:ph idx="1" type="body"/>
          </p:nvPr>
        </p:nvSpPr>
        <p:spPr>
          <a:xfrm>
            <a:off x="914399" y="2022250"/>
            <a:ext cx="5181600" cy="3747180"/>
          </a:xfrm>
          <a:prstGeom prst="rect">
            <a:avLst/>
          </a:prstGeom>
          <a:noFill/>
          <a:ln>
            <a:noFill/>
          </a:ln>
        </p:spPr>
        <p:txBody>
          <a:bodyPr anchorCtr="0" anchor="t" bIns="45700" lIns="91425" spcFirstLastPara="1" rIns="91425" wrap="square" tIns="45700">
            <a:normAutofit fontScale="77500" lnSpcReduction="20000"/>
          </a:bodyPr>
          <a:lstStyle/>
          <a:p>
            <a:pPr indent="-228600" lvl="0" marL="228600" rtl="0" algn="l">
              <a:lnSpc>
                <a:spcPct val="90000"/>
              </a:lnSpc>
              <a:spcBef>
                <a:spcPts val="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Top Sales Associate: Monthly revenue contest; $1,000 bonus; ethical, team-aligned.</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Growth &amp; Development: Job enlargement/enrichment/rotation; clear promotions; on/off-campus training; mentor coaching.</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Regular Feedback: 15-min biweekly check-ins on strengths, improvements, goals, and well-being.</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Culture &amp; Recognition: Team lunches, milestone/degree celebrations; recognition to boost morale and trust.</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Mind Breaks: One 30‑min mindfulness break per shift (in addition to lunch) to reset and refocus.</a:t>
            </a:r>
            <a:endParaRPr/>
          </a:p>
          <a:p>
            <a:pPr indent="-228600" lvl="0" marL="228600" rtl="0" algn="l">
              <a:lnSpc>
                <a:spcPct val="90000"/>
              </a:lnSpc>
              <a:spcBef>
                <a:spcPts val="1200"/>
              </a:spcBef>
              <a:spcAft>
                <a:spcPts val="0"/>
              </a:spcAft>
              <a:buClr>
                <a:schemeClr val="dk1"/>
              </a:buClr>
              <a:buSzPct val="100000"/>
              <a:buChar char="•"/>
            </a:pPr>
            <a:r>
              <a:rPr b="0" i="0" lang="en-US" sz="2000" u="none" cap="none" strike="noStrike">
                <a:solidFill>
                  <a:schemeClr val="dk1"/>
                </a:solidFill>
                <a:latin typeface="Arial"/>
                <a:ea typeface="Arial"/>
                <a:cs typeface="Arial"/>
                <a:sym typeface="Arial"/>
              </a:rPr>
              <a:t>Global Notes: Apply per local laws/culture; ensure fairness, inclusion, and data privacy.</a:t>
            </a:r>
            <a:endParaRPr/>
          </a:p>
          <a:p>
            <a:pPr indent="-130175" lvl="0" marL="228600" rtl="0" algn="l">
              <a:lnSpc>
                <a:spcPct val="90000"/>
              </a:lnSpc>
              <a:spcBef>
                <a:spcPts val="1200"/>
              </a:spcBef>
              <a:spcAft>
                <a:spcPts val="0"/>
              </a:spcAft>
              <a:buClr>
                <a:schemeClr val="dk1"/>
              </a:buClr>
              <a:buSzPct val="100000"/>
              <a:buNone/>
            </a:pPr>
            <a:r>
              <a:t/>
            </a:r>
            <a:endParaRPr b="0" i="0" sz="2000" u="none" cap="none" strike="noStrike">
              <a:solidFill>
                <a:schemeClr val="dk1"/>
              </a:solidFill>
              <a:latin typeface="Arial"/>
              <a:ea typeface="Arial"/>
              <a:cs typeface="Arial"/>
              <a:sym typeface="Arial"/>
            </a:endParaRPr>
          </a:p>
        </p:txBody>
      </p:sp>
      <p:sp>
        <p:nvSpPr>
          <p:cNvPr id="189" name="Google Shape;189;p12"/>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descr="两个人看着自己的手机" id="190" name="Google Shape;190;p12"/>
          <p:cNvPicPr preferRelativeResize="0"/>
          <p:nvPr>
            <p:ph idx="2" type="pic"/>
          </p:nvPr>
        </p:nvPicPr>
        <p:blipFill rotWithShape="1">
          <a:blip r:embed="rId3">
            <a:alphaModFix/>
          </a:blip>
          <a:srcRect b="0" l="81" r="81" t="0"/>
          <a:stretch/>
        </p:blipFill>
        <p:spPr>
          <a:xfrm>
            <a:off x="6076950" y="0"/>
            <a:ext cx="6115050" cy="6868886"/>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3"/>
          <p:cNvSpPr txBox="1"/>
          <p:nvPr>
            <p:ph type="title"/>
          </p:nvPr>
        </p:nvSpPr>
        <p:spPr>
          <a:xfrm>
            <a:off x="916385" y="446313"/>
            <a:ext cx="6556470" cy="144874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2400"/>
              <a:buFont typeface="Arial"/>
              <a:buNone/>
            </a:pPr>
            <a:r>
              <a:rPr b="0" i="0" lang="en-US" sz="2400" u="none" cap="none" strike="noStrike">
                <a:solidFill>
                  <a:schemeClr val="dk1"/>
                </a:solidFill>
                <a:latin typeface="Arial"/>
                <a:ea typeface="Arial"/>
                <a:cs typeface="Arial"/>
                <a:sym typeface="Arial"/>
              </a:rPr>
              <a:t>ANNOUNCEMENT FOR INFORMING EMPLOYEES OF DEPARTURE OF</a:t>
            </a:r>
            <a:br>
              <a:rPr b="0" i="0" lang="en-US" sz="2400" u="none" cap="none" strike="noStrike">
                <a:solidFill>
                  <a:schemeClr val="dk1"/>
                </a:solidFill>
                <a:latin typeface="Arial"/>
                <a:ea typeface="Arial"/>
                <a:cs typeface="Arial"/>
                <a:sym typeface="Arial"/>
              </a:rPr>
            </a:br>
            <a:r>
              <a:rPr b="0" i="0" lang="en-US" sz="2400" u="none" cap="none" strike="noStrike">
                <a:solidFill>
                  <a:schemeClr val="dk1"/>
                </a:solidFill>
                <a:latin typeface="Arial"/>
                <a:ea typeface="Arial"/>
                <a:cs typeface="Arial"/>
                <a:sym typeface="Arial"/>
              </a:rPr>
              <a:t>TWO KEY EMPLOYEES</a:t>
            </a:r>
            <a:endParaRPr b="0" i="0" sz="2400" u="none" cap="none" strike="noStrike">
              <a:solidFill>
                <a:schemeClr val="dk1"/>
              </a:solidFill>
              <a:latin typeface="Arial"/>
              <a:ea typeface="Arial"/>
              <a:cs typeface="Arial"/>
              <a:sym typeface="Arial"/>
            </a:endParaRPr>
          </a:p>
        </p:txBody>
      </p:sp>
      <p:sp>
        <p:nvSpPr>
          <p:cNvPr id="197" name="Google Shape;197;p13"/>
          <p:cNvSpPr txBox="1"/>
          <p:nvPr>
            <p:ph idx="1" type="body"/>
          </p:nvPr>
        </p:nvSpPr>
        <p:spPr>
          <a:xfrm>
            <a:off x="914399" y="2022250"/>
            <a:ext cx="5181600" cy="3747180"/>
          </a:xfrm>
          <a:prstGeom prst="rect">
            <a:avLst/>
          </a:prstGeom>
          <a:noFill/>
          <a:ln>
            <a:noFill/>
          </a:ln>
        </p:spPr>
        <p:txBody>
          <a:bodyPr anchorCtr="0" anchor="t" bIns="45700" lIns="91425" spcFirstLastPara="1" rIns="91425" wrap="square" tIns="45700">
            <a:normAutofit fontScale="40000" lnSpcReduction="20000"/>
          </a:bodyPr>
          <a:lstStyle/>
          <a:p>
            <a:pPr indent="0" lvl="0" marL="0" marR="0" rtl="0" algn="l">
              <a:lnSpc>
                <a:spcPct val="90000"/>
              </a:lnSpc>
              <a:spcBef>
                <a:spcPts val="0"/>
              </a:spcBef>
              <a:spcAft>
                <a:spcPts val="0"/>
              </a:spcAft>
              <a:buClr>
                <a:schemeClr val="dk1"/>
              </a:buClr>
              <a:buSzPct val="100000"/>
              <a:buFont typeface="Arial"/>
              <a:buNone/>
            </a:pPr>
            <a:r>
              <a:rPr b="0" i="0" lang="en-US" sz="2000" u="none" cap="none" strike="noStrike">
                <a:solidFill>
                  <a:schemeClr val="dk1"/>
                </a:solidFill>
                <a:latin typeface="Arial"/>
                <a:ea typeface="Arial"/>
                <a:cs typeface="Arial"/>
                <a:sym typeface="Arial"/>
              </a:rPr>
              <a:t>Team,</a:t>
            </a:r>
            <a:endParaRPr/>
          </a:p>
          <a:p>
            <a:pPr indent="0" lvl="0" marL="0" marR="0" rtl="0" algn="l">
              <a:lnSpc>
                <a:spcPct val="90000"/>
              </a:lnSpc>
              <a:spcBef>
                <a:spcPts val="1200"/>
              </a:spcBef>
              <a:spcAft>
                <a:spcPts val="0"/>
              </a:spcAft>
              <a:buClr>
                <a:schemeClr val="dk1"/>
              </a:buClr>
              <a:buSzPct val="100000"/>
              <a:buFont typeface="Arial"/>
              <a:buNone/>
            </a:pPr>
            <a:r>
              <a:rPr b="0" i="0" lang="en-US" sz="2000" u="none" cap="none" strike="noStrike">
                <a:solidFill>
                  <a:schemeClr val="dk1"/>
                </a:solidFill>
                <a:latin typeface="Arial"/>
                <a:ea typeface="Arial"/>
                <a:cs typeface="Arial"/>
                <a:sym typeface="Arial"/>
              </a:rPr>
              <a:t>As you may have already heard, 2 of our valued employees have decided to part ways with our company and resigned. It was clear to us that one of the main reasons for this was dissatisfaction with our management practices. In an effort to address this issue, we have decided to implement more programs and initiatives that will benefit you, our highly-valued employees. Starting next month, we plan to start a monthly “Top Sales Associate” competition where the sales associate with the most revenue made from sales each month will be rewarded with a $1,000 bonus in the form of a check. Next, we plan to establish more job enlargement, job enrichment, job rotation, and promotional opportunities. There would also be In/off-campus training with other companies. Here, the managers and associated professors would provide personal development and mentorship opportunities. We also plan on implementing daily “Mind Breaks”. This would be a daily, 30 minute break, in addition to your 30 minute lunch break. You could use this time to give your mind a break and come back replenished for the rest of your shift. You could enjoy a nice walk around our building or help yourself to the various snacks that will be supplied in our communal kitchen. Starting as-soon-as-possible we also intend to spend more one-on-one time with you, our employees. Furthermore, we plan to implement feedback sessions. They would be 15 min, every 2 weeks, where a manager will give you a performance analysis on what can be done better and what is being done well. Here, we will also check up on your mental space. Lastly, we want to make sure that you, our employees, feel appreciated. We plan to have more small get-togethers to celebrate individual work anniversaries and academic achievements, as every one of our employees is like family to us, and we want to make sure they feel the same way. As saddened as I am about the departure of our 2 fellow employees, I look forward to implementing these initiatives and fostering a more productive, motivating work environment. Our goal is to create an environment where everyone feels empowered, supported, and excited to be part of our journey. If you have any questions or suggestions, please do not hesitate to reach out to me directly or share your thoughts during our next team meeting.</a:t>
            </a:r>
            <a:endParaRPr/>
          </a:p>
          <a:p>
            <a:pPr indent="0" lvl="0" marL="0" marR="0" rtl="0" algn="l">
              <a:lnSpc>
                <a:spcPct val="90000"/>
              </a:lnSpc>
              <a:spcBef>
                <a:spcPts val="1200"/>
              </a:spcBef>
              <a:spcAft>
                <a:spcPts val="0"/>
              </a:spcAft>
              <a:buClr>
                <a:schemeClr val="dk1"/>
              </a:buClr>
              <a:buSzPct val="100000"/>
              <a:buFont typeface="Arial"/>
              <a:buNone/>
            </a:pPr>
            <a:r>
              <a:rPr b="0" i="0" lang="en-US" sz="2000" u="none" cap="none" strike="noStrike">
                <a:solidFill>
                  <a:schemeClr val="dk1"/>
                </a:solidFill>
                <a:latin typeface="Arial"/>
                <a:ea typeface="Arial"/>
                <a:cs typeface="Arial"/>
                <a:sym typeface="Arial"/>
              </a:rPr>
              <a:t>Thank you for your continued dedication and hard work. Together, we will continue to grow and thrive as a team.</a:t>
            </a:r>
            <a:endParaRPr/>
          </a:p>
          <a:p>
            <a:pPr indent="0" lvl="0" marL="0" marR="0" rtl="0" algn="l">
              <a:lnSpc>
                <a:spcPct val="90000"/>
              </a:lnSpc>
              <a:spcBef>
                <a:spcPts val="1200"/>
              </a:spcBef>
              <a:spcAft>
                <a:spcPts val="0"/>
              </a:spcAft>
              <a:buClr>
                <a:schemeClr val="dk1"/>
              </a:buClr>
              <a:buSzPct val="100000"/>
              <a:buFont typeface="Arial"/>
              <a:buNone/>
            </a:pPr>
            <a:r>
              <a:rPr b="0" i="0" lang="en-US" sz="2000" u="none" cap="none" strike="noStrike">
                <a:solidFill>
                  <a:schemeClr val="dk1"/>
                </a:solidFill>
                <a:latin typeface="Arial"/>
                <a:ea typeface="Arial"/>
                <a:cs typeface="Arial"/>
                <a:sym typeface="Arial"/>
              </a:rPr>
              <a:t>Best regards,</a:t>
            </a:r>
            <a:endParaRPr/>
          </a:p>
          <a:p>
            <a:pPr indent="0" lvl="0" marL="0" marR="0" rtl="0" algn="l">
              <a:lnSpc>
                <a:spcPct val="90000"/>
              </a:lnSpc>
              <a:spcBef>
                <a:spcPts val="1200"/>
              </a:spcBef>
              <a:spcAft>
                <a:spcPts val="0"/>
              </a:spcAft>
              <a:buClr>
                <a:schemeClr val="dk1"/>
              </a:buClr>
              <a:buSzPct val="100000"/>
              <a:buFont typeface="Arial"/>
              <a:buNone/>
            </a:pPr>
            <a:r>
              <a:rPr b="0" i="0" lang="en-US" sz="2000" u="none" cap="none" strike="noStrike">
                <a:solidFill>
                  <a:schemeClr val="dk1"/>
                </a:solidFill>
                <a:latin typeface="Arial"/>
                <a:ea typeface="Arial"/>
                <a:cs typeface="Arial"/>
                <a:sym typeface="Arial"/>
              </a:rPr>
              <a:t>RU Formal Management Team</a:t>
            </a:r>
            <a:endParaRPr/>
          </a:p>
        </p:txBody>
      </p:sp>
      <p:sp>
        <p:nvSpPr>
          <p:cNvPr id="198" name="Google Shape;198;p13"/>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descr="两个人看着自己的手机" id="199" name="Google Shape;199;p13"/>
          <p:cNvPicPr preferRelativeResize="0"/>
          <p:nvPr>
            <p:ph idx="2" type="pic"/>
          </p:nvPr>
        </p:nvPicPr>
        <p:blipFill rotWithShape="1">
          <a:blip r:embed="rId3">
            <a:alphaModFix/>
          </a:blip>
          <a:srcRect b="0" l="81" r="81" t="0"/>
          <a:stretch/>
        </p:blipFill>
        <p:spPr>
          <a:xfrm>
            <a:off x="6076950" y="0"/>
            <a:ext cx="6115050" cy="686888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14"/>
          <p:cNvSpPr txBox="1"/>
          <p:nvPr>
            <p:ph type="title"/>
          </p:nvPr>
        </p:nvSpPr>
        <p:spPr>
          <a:xfrm>
            <a:off x="891990" y="434225"/>
            <a:ext cx="9524998" cy="149962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KEY DRIVERS AND ACTIONS SELECTED TO ACHIEVE HIGH LEVELS OF</a:t>
            </a:r>
            <a:br>
              <a:rPr b="0" i="0" lang="en-US" sz="3200" u="none" cap="none" strike="noStrike">
                <a:solidFill>
                  <a:schemeClr val="dk1"/>
                </a:solidFill>
                <a:latin typeface="Arial"/>
                <a:ea typeface="Arial"/>
                <a:cs typeface="Arial"/>
                <a:sym typeface="Arial"/>
              </a:rPr>
            </a:br>
            <a:r>
              <a:rPr b="0" i="0" lang="en-US" sz="3200" u="none" cap="none" strike="noStrike">
                <a:solidFill>
                  <a:schemeClr val="dk1"/>
                </a:solidFill>
                <a:latin typeface="Arial"/>
                <a:ea typeface="Arial"/>
                <a:cs typeface="Arial"/>
                <a:sym typeface="Arial"/>
              </a:rPr>
              <a:t>EMPLOYEE ENGAGEMENT</a:t>
            </a:r>
            <a:endParaRPr b="0" i="0" sz="3200" u="none" cap="none" strike="noStrike">
              <a:solidFill>
                <a:schemeClr val="dk1"/>
              </a:solidFill>
              <a:latin typeface="Arial"/>
              <a:ea typeface="Arial"/>
              <a:cs typeface="Arial"/>
              <a:sym typeface="Arial"/>
            </a:endParaRPr>
          </a:p>
        </p:txBody>
      </p:sp>
      <p:sp>
        <p:nvSpPr>
          <p:cNvPr id="206" name="Google Shape;206;p14"/>
          <p:cNvSpPr txBox="1"/>
          <p:nvPr>
            <p:ph idx="1" type="body"/>
          </p:nvPr>
        </p:nvSpPr>
        <p:spPr>
          <a:xfrm>
            <a:off x="914399" y="2022250"/>
            <a:ext cx="6257366" cy="3914910"/>
          </a:xfrm>
          <a:prstGeom prst="rect">
            <a:avLst/>
          </a:prstGeom>
          <a:noFill/>
          <a:ln>
            <a:noFill/>
          </a:ln>
        </p:spPr>
        <p:txBody>
          <a:bodyPr anchorCtr="0" anchor="t" bIns="45700" lIns="91425" spcFirstLastPara="1" rIns="91425" wrap="square" tIns="45700">
            <a:normAutofit fontScale="70000" lnSpcReduction="20000"/>
          </a:bodyPr>
          <a:lstStyle/>
          <a:p>
            <a:pPr indent="0" lvl="0" marL="0" rtl="0" algn="l">
              <a:lnSpc>
                <a:spcPct val="90000"/>
              </a:lnSpc>
              <a:spcBef>
                <a:spcPts val="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Leadership &amp; Management</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Leaders invest in growth, link employee/org success, build trust.</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Managers design meaningful jobs; provide autonomy, resources, training; recognize great work.</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Culture</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Trust and respect; open communication; collaboration; flexibility; pleasant conditions; strong reputation.</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HR Practices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Fair reviews; competitive comp/benefits; work–life balance; DEI; safe workplace; employee support.</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Development &amp; Well‑Being</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Professional development (training, mentorship, certifications).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Wellness programs (physical, mental/emotional).</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Recognition with ongoing feedback and rewards.</a:t>
            </a:r>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207" name="Google Shape;207;p14"/>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208" name="Google Shape;208;p14"/>
          <p:cNvPicPr preferRelativeResize="0"/>
          <p:nvPr>
            <p:ph idx="2" type="body"/>
          </p:nvPr>
        </p:nvPicPr>
        <p:blipFill rotWithShape="1">
          <a:blip r:embed="rId3">
            <a:alphaModFix/>
          </a:blip>
          <a:srcRect b="0" l="0" r="0" t="0"/>
          <a:stretch/>
        </p:blipFill>
        <p:spPr>
          <a:xfrm>
            <a:off x="7371062" y="1933852"/>
            <a:ext cx="4332364" cy="4332364"/>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5"/>
          <p:cNvSpPr txBox="1"/>
          <p:nvPr>
            <p:ph type="title"/>
          </p:nvPr>
        </p:nvSpPr>
        <p:spPr>
          <a:xfrm>
            <a:off x="891990" y="434225"/>
            <a:ext cx="9524998" cy="149962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SIPOC FOR KEY PROCESS</a:t>
            </a:r>
            <a:endParaRPr b="0" i="0" sz="3200" u="none" cap="none" strike="noStrike">
              <a:solidFill>
                <a:schemeClr val="dk1"/>
              </a:solidFill>
              <a:latin typeface="Arial"/>
              <a:ea typeface="Arial"/>
              <a:cs typeface="Arial"/>
              <a:sym typeface="Arial"/>
            </a:endParaRPr>
          </a:p>
        </p:txBody>
      </p:sp>
      <p:sp>
        <p:nvSpPr>
          <p:cNvPr id="215" name="Google Shape;215;p15"/>
          <p:cNvSpPr txBox="1"/>
          <p:nvPr>
            <p:ph idx="1" type="body"/>
          </p:nvPr>
        </p:nvSpPr>
        <p:spPr>
          <a:xfrm>
            <a:off x="914399" y="2022250"/>
            <a:ext cx="6257366" cy="391491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Suppliers: Low-cost formalwear wholesalers; student second-hand; dry cleaners/univ. laundry; tailors; logistics; university networks.</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Inputs: Formalwear inventory; storage; cleaning supplies/services; booking platform (web/app/manual); marketing materials.</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Process: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Source inventory</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Launch booking platform</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Promote to students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Take requests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Process payment/confirm</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Deliver or pick-up</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Return, inspect, clean, prep</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Outputs: Rented attire; enhanced student experience/after-sales; revenue; positive social impact (CSP).</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Customers: Students; student orgs; university staff; general public.</a:t>
            </a:r>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216" name="Google Shape;216;p15"/>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217" name="Google Shape;217;p15"/>
          <p:cNvPicPr preferRelativeResize="0"/>
          <p:nvPr>
            <p:ph idx="2" type="body"/>
          </p:nvPr>
        </p:nvPicPr>
        <p:blipFill rotWithShape="1">
          <a:blip r:embed="rId3">
            <a:alphaModFix/>
          </a:blip>
          <a:srcRect b="0" l="0" r="0" t="0"/>
          <a:stretch/>
        </p:blipFill>
        <p:spPr>
          <a:xfrm>
            <a:off x="7375880" y="2022250"/>
            <a:ext cx="4322134" cy="4322134"/>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 name="Shape 222"/>
        <p:cNvGrpSpPr/>
        <p:nvPr/>
      </p:nvGrpSpPr>
      <p:grpSpPr>
        <a:xfrm>
          <a:off x="0" y="0"/>
          <a:ext cx="0" cy="0"/>
          <a:chOff x="0" y="0"/>
          <a:chExt cx="0" cy="0"/>
        </a:xfrm>
      </p:grpSpPr>
      <p:sp>
        <p:nvSpPr>
          <p:cNvPr id="223" name="Google Shape;223;p16"/>
          <p:cNvSpPr txBox="1"/>
          <p:nvPr>
            <p:ph type="title"/>
          </p:nvPr>
        </p:nvSpPr>
        <p:spPr>
          <a:xfrm>
            <a:off x="891990" y="434225"/>
            <a:ext cx="9524998" cy="149962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EFFECTIVENESS MEASUREMENT CHART AND EFFICIENCY</a:t>
            </a:r>
            <a:br>
              <a:rPr b="0" i="0" lang="en-US" sz="3200" u="none" cap="none" strike="noStrike">
                <a:solidFill>
                  <a:schemeClr val="dk1"/>
                </a:solidFill>
                <a:latin typeface="Arial"/>
                <a:ea typeface="Arial"/>
                <a:cs typeface="Arial"/>
                <a:sym typeface="Arial"/>
              </a:rPr>
            </a:br>
            <a:r>
              <a:rPr b="0" i="0" lang="en-US" sz="3200" u="none" cap="none" strike="noStrike">
                <a:solidFill>
                  <a:schemeClr val="dk1"/>
                </a:solidFill>
                <a:latin typeface="Arial"/>
                <a:ea typeface="Arial"/>
                <a:cs typeface="Arial"/>
                <a:sym typeface="Arial"/>
              </a:rPr>
              <a:t>MEASUREMENT CHART </a:t>
            </a:r>
            <a:endParaRPr b="0" i="0" sz="3200" u="none" cap="none" strike="noStrike">
              <a:solidFill>
                <a:schemeClr val="dk1"/>
              </a:solidFill>
              <a:latin typeface="Arial"/>
              <a:ea typeface="Arial"/>
              <a:cs typeface="Arial"/>
              <a:sym typeface="Arial"/>
            </a:endParaRPr>
          </a:p>
        </p:txBody>
      </p:sp>
      <p:sp>
        <p:nvSpPr>
          <p:cNvPr id="224" name="Google Shape;224;p16"/>
          <p:cNvSpPr txBox="1"/>
          <p:nvPr>
            <p:ph idx="1" type="body"/>
          </p:nvPr>
        </p:nvSpPr>
        <p:spPr>
          <a:xfrm>
            <a:off x="914399" y="2022250"/>
            <a:ext cx="6257366" cy="3914910"/>
          </a:xfrm>
          <a:prstGeom prst="rect">
            <a:avLst/>
          </a:prstGeom>
          <a:noFill/>
          <a:ln>
            <a:noFill/>
          </a:ln>
        </p:spPr>
        <p:txBody>
          <a:bodyPr anchorCtr="0" anchor="t" bIns="45700" lIns="91425" spcFirstLastPara="1" rIns="91425" wrap="square" tIns="45700">
            <a:normAutofit/>
          </a:bodyPr>
          <a:lstStyle/>
          <a:p>
            <a:pPr indent="0" lvl="0" marL="0" marR="0" rtl="0" algn="l">
              <a:lnSpc>
                <a:spcPct val="90000"/>
              </a:lnSpc>
              <a:spcBef>
                <a:spcPts val="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25" name="Google Shape;225;p16"/>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226" name="Google Shape;226;p16"/>
          <p:cNvPicPr preferRelativeResize="0"/>
          <p:nvPr/>
        </p:nvPicPr>
        <p:blipFill rotWithShape="1">
          <a:blip r:embed="rId3">
            <a:alphaModFix/>
          </a:blip>
          <a:srcRect b="0" l="0" r="0" t="0"/>
          <a:stretch/>
        </p:blipFill>
        <p:spPr>
          <a:xfrm>
            <a:off x="914399" y="2535094"/>
            <a:ext cx="5057579" cy="2984451"/>
          </a:xfrm>
          <a:prstGeom prst="rect">
            <a:avLst/>
          </a:prstGeom>
          <a:noFill/>
          <a:ln>
            <a:noFill/>
          </a:ln>
        </p:spPr>
      </p:pic>
      <p:pic>
        <p:nvPicPr>
          <p:cNvPr id="227" name="Google Shape;227;p16"/>
          <p:cNvPicPr preferRelativeResize="0"/>
          <p:nvPr>
            <p:ph idx="2" type="body"/>
          </p:nvPr>
        </p:nvPicPr>
        <p:blipFill rotWithShape="1">
          <a:blip r:embed="rId4">
            <a:alphaModFix/>
          </a:blip>
          <a:srcRect b="0" l="0" r="0" t="0"/>
          <a:stretch/>
        </p:blipFill>
        <p:spPr>
          <a:xfrm>
            <a:off x="6817010" y="2535094"/>
            <a:ext cx="5126946" cy="29844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2" name="Shape 232"/>
        <p:cNvGrpSpPr/>
        <p:nvPr/>
      </p:nvGrpSpPr>
      <p:grpSpPr>
        <a:xfrm>
          <a:off x="0" y="0"/>
          <a:ext cx="0" cy="0"/>
          <a:chOff x="0" y="0"/>
          <a:chExt cx="0" cy="0"/>
        </a:xfrm>
      </p:grpSpPr>
      <p:sp>
        <p:nvSpPr>
          <p:cNvPr id="233" name="Google Shape;233;p17"/>
          <p:cNvSpPr txBox="1"/>
          <p:nvPr>
            <p:ph type="title"/>
          </p:nvPr>
        </p:nvSpPr>
        <p:spPr>
          <a:xfrm>
            <a:off x="891990" y="434225"/>
            <a:ext cx="9524998" cy="149962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DESCRIPTION OF KEY INITIATIVE TO IMPROVE THE PROCESS</a:t>
            </a:r>
            <a:endParaRPr b="0" i="0" sz="3200" u="none" cap="none" strike="noStrike">
              <a:solidFill>
                <a:schemeClr val="dk1"/>
              </a:solidFill>
              <a:latin typeface="Arial"/>
              <a:ea typeface="Arial"/>
              <a:cs typeface="Arial"/>
              <a:sym typeface="Arial"/>
            </a:endParaRPr>
          </a:p>
        </p:txBody>
      </p:sp>
      <p:sp>
        <p:nvSpPr>
          <p:cNvPr id="234" name="Google Shape;234;p17"/>
          <p:cNvSpPr txBox="1"/>
          <p:nvPr>
            <p:ph idx="1" type="body"/>
          </p:nvPr>
        </p:nvSpPr>
        <p:spPr>
          <a:xfrm>
            <a:off x="914399" y="2022250"/>
            <a:ext cx="6257366" cy="391491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90000"/>
              </a:lnSpc>
              <a:spcBef>
                <a:spcPts val="0"/>
              </a:spcBef>
              <a:spcAft>
                <a:spcPts val="0"/>
              </a:spcAft>
              <a:buClr>
                <a:schemeClr val="dk1"/>
              </a:buClr>
              <a:buSzPts val="2000"/>
              <a:buNone/>
            </a:pPr>
            <a:r>
              <a:rPr b="0" i="0" lang="en-US" sz="2000" u="none" cap="none" strike="noStrike">
                <a:solidFill>
                  <a:schemeClr val="dk1"/>
                </a:solidFill>
                <a:latin typeface="Arial"/>
                <a:ea typeface="Arial"/>
                <a:cs typeface="Arial"/>
                <a:sym typeface="Arial"/>
              </a:rPr>
              <a:t>Focus: Effectiveness</a:t>
            </a:r>
            <a:endParaRPr/>
          </a:p>
          <a:p>
            <a:pPr indent="0" lvl="0" marL="0" rtl="0" algn="l">
              <a:lnSpc>
                <a:spcPct val="90000"/>
              </a:lnSpc>
              <a:spcBef>
                <a:spcPts val="1200"/>
              </a:spcBef>
              <a:spcAft>
                <a:spcPts val="0"/>
              </a:spcAft>
              <a:buClr>
                <a:schemeClr val="dk1"/>
              </a:buClr>
              <a:buSzPts val="2000"/>
              <a:buNone/>
            </a:pPr>
            <a:r>
              <a:rPr b="0" i="0" lang="en-US" sz="2000" u="none" cap="none" strike="noStrike">
                <a:solidFill>
                  <a:schemeClr val="dk1"/>
                </a:solidFill>
                <a:latin typeface="Arial"/>
                <a:ea typeface="Arial"/>
                <a:cs typeface="Arial"/>
                <a:sym typeface="Arial"/>
              </a:rPr>
              <a:t>Current: 2025 below benchmark, but ahead of competitors</a:t>
            </a:r>
            <a:endParaRPr/>
          </a:p>
          <a:p>
            <a:pPr indent="0" lvl="0" marL="0" rtl="0" algn="l">
              <a:lnSpc>
                <a:spcPct val="90000"/>
              </a:lnSpc>
              <a:spcBef>
                <a:spcPts val="1200"/>
              </a:spcBef>
              <a:spcAft>
                <a:spcPts val="0"/>
              </a:spcAft>
              <a:buClr>
                <a:schemeClr val="dk1"/>
              </a:buClr>
              <a:buSzPts val="2000"/>
              <a:buNone/>
            </a:pPr>
            <a:r>
              <a:rPr b="0" i="0" lang="en-US" sz="2000" u="none" cap="none" strike="noStrike">
                <a:solidFill>
                  <a:schemeClr val="dk1"/>
                </a:solidFill>
                <a:latin typeface="Arial"/>
                <a:ea typeface="Arial"/>
                <a:cs typeface="Arial"/>
                <a:sym typeface="Arial"/>
              </a:rPr>
              <a:t>Target: +2% per event by end of 2026 to reach benchmark</a:t>
            </a:r>
            <a:endParaRPr/>
          </a:p>
          <a:p>
            <a:pPr indent="0" lvl="0" marL="0" rtl="0" algn="l">
              <a:lnSpc>
                <a:spcPct val="90000"/>
              </a:lnSpc>
              <a:spcBef>
                <a:spcPts val="1200"/>
              </a:spcBef>
              <a:spcAft>
                <a:spcPts val="0"/>
              </a:spcAft>
              <a:buClr>
                <a:schemeClr val="dk1"/>
              </a:buClr>
              <a:buSzPts val="2000"/>
              <a:buNone/>
            </a:pPr>
            <a:r>
              <a:rPr b="0" i="0" lang="en-US" sz="2000" u="none" cap="none" strike="noStrike">
                <a:solidFill>
                  <a:schemeClr val="dk1"/>
                </a:solidFill>
                <a:latin typeface="Arial"/>
                <a:ea typeface="Arial"/>
                <a:cs typeface="Arial"/>
                <a:sym typeface="Arial"/>
              </a:rPr>
              <a:t>Actions:</a:t>
            </a:r>
            <a:endParaRPr/>
          </a:p>
          <a:p>
            <a:pPr indent="-228600" lvl="1" marL="228600" marR="0" rtl="0" algn="l">
              <a:lnSpc>
                <a:spcPct val="90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Marketing: Boost social, pre/post‑event campaigns; partner more with student orgs to expand reach.</a:t>
            </a:r>
            <a:endParaRPr/>
          </a:p>
          <a:p>
            <a:pPr indent="-228600" lvl="1" marL="228600" marR="0" rtl="0" algn="l">
              <a:lnSpc>
                <a:spcPct val="90000"/>
              </a:lnSpc>
              <a:spcBef>
                <a:spcPts val="1200"/>
              </a:spcBef>
              <a:spcAft>
                <a:spcPts val="0"/>
              </a:spcAft>
              <a:buClr>
                <a:schemeClr val="dk1"/>
              </a:buClr>
              <a:buSzPts val="2000"/>
              <a:buFont typeface="Arial"/>
              <a:buChar char="•"/>
            </a:pPr>
            <a:r>
              <a:rPr b="0" i="0" lang="en-US" sz="2000" u="none" cap="none" strike="noStrike">
                <a:solidFill>
                  <a:schemeClr val="dk1"/>
                </a:solidFill>
                <a:latin typeface="Arial"/>
                <a:ea typeface="Arial"/>
                <a:cs typeface="Arial"/>
                <a:sym typeface="Arial"/>
              </a:rPr>
              <a:t>Feedback: Digital kiosks and QR/receipt surveys for real-time satisfaction insights and rapid fixes</a:t>
            </a:r>
            <a:endParaRPr/>
          </a:p>
          <a:p>
            <a:pPr indent="0" lvl="0" marL="0" marR="0" rtl="0" algn="l">
              <a:lnSpc>
                <a:spcPct val="90000"/>
              </a:lnSpc>
              <a:spcBef>
                <a:spcPts val="1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ts val="2000"/>
              <a:buFont typeface="Arial"/>
              <a:buNone/>
            </a:pPr>
            <a:r>
              <a:t/>
            </a:r>
            <a:endParaRPr b="0" i="0" sz="2000" u="none" cap="none" strike="noStrike">
              <a:solidFill>
                <a:schemeClr val="dk1"/>
              </a:solidFill>
              <a:latin typeface="Arial"/>
              <a:ea typeface="Arial"/>
              <a:cs typeface="Arial"/>
              <a:sym typeface="Arial"/>
            </a:endParaRPr>
          </a:p>
        </p:txBody>
      </p:sp>
      <p:sp>
        <p:nvSpPr>
          <p:cNvPr id="235" name="Google Shape;235;p17"/>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236" name="Google Shape;236;p17"/>
          <p:cNvPicPr preferRelativeResize="0"/>
          <p:nvPr>
            <p:ph idx="2" type="body"/>
          </p:nvPr>
        </p:nvPicPr>
        <p:blipFill rotWithShape="1">
          <a:blip r:embed="rId3">
            <a:alphaModFix/>
          </a:blip>
          <a:srcRect b="0" l="0" r="0" t="0"/>
          <a:stretch/>
        </p:blipFill>
        <p:spPr>
          <a:xfrm>
            <a:off x="7647094" y="2022249"/>
            <a:ext cx="3914909" cy="391490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18"/>
          <p:cNvSpPr txBox="1"/>
          <p:nvPr>
            <p:ph type="title"/>
          </p:nvPr>
        </p:nvSpPr>
        <p:spPr>
          <a:xfrm>
            <a:off x="891990" y="434225"/>
            <a:ext cx="9524998" cy="149962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TEAM DECISION ON WHETHER TO SELL THE BUSINESS OR NOT AND RATIONALE</a:t>
            </a:r>
            <a:endParaRPr b="0" i="0" sz="3200" u="none" cap="none" strike="noStrike">
              <a:solidFill>
                <a:schemeClr val="dk1"/>
              </a:solidFill>
              <a:latin typeface="Arial"/>
              <a:ea typeface="Arial"/>
              <a:cs typeface="Arial"/>
              <a:sym typeface="Arial"/>
            </a:endParaRPr>
          </a:p>
        </p:txBody>
      </p:sp>
      <p:sp>
        <p:nvSpPr>
          <p:cNvPr id="243" name="Google Shape;243;p18"/>
          <p:cNvSpPr txBox="1"/>
          <p:nvPr>
            <p:ph idx="1" type="body"/>
          </p:nvPr>
        </p:nvSpPr>
        <p:spPr>
          <a:xfrm>
            <a:off x="914399" y="2022250"/>
            <a:ext cx="6257366" cy="391491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Decision: Proceed with the sale.</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Rationale:</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Strong offer with a significant premium that maximizes shareholder value.</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Structured transition via 3-year consulting ensures continuity and knowledge transfer.</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Access to greater capital and scale supports global growth potential.</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Reduces risk amid uncertain global economic conditions.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Limited long-term impact on workforce; most roles are short-term student positions.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Enables reinvestment into new ventures that can create jobs and broader global impact.</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Commitments: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Follow a fair, transparent process for all stakeholders worldwide.</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Provide equitable severance and job placement support.</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Honor existing international agreements and uphold CSR standards.</a:t>
            </a:r>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244" name="Google Shape;244;p18"/>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245" name="Google Shape;245;p18"/>
          <p:cNvPicPr preferRelativeResize="0"/>
          <p:nvPr>
            <p:ph idx="2" type="body"/>
          </p:nvPr>
        </p:nvPicPr>
        <p:blipFill rotWithShape="1">
          <a:blip r:embed="rId3">
            <a:alphaModFix/>
          </a:blip>
          <a:srcRect b="0" l="0" r="0" t="0"/>
          <a:stretch/>
        </p:blipFill>
        <p:spPr>
          <a:xfrm>
            <a:off x="7647094" y="2022249"/>
            <a:ext cx="3914909" cy="3914909"/>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p19"/>
          <p:cNvSpPr txBox="1"/>
          <p:nvPr>
            <p:ph type="title"/>
          </p:nvPr>
        </p:nvSpPr>
        <p:spPr>
          <a:xfrm>
            <a:off x="891990" y="434225"/>
            <a:ext cx="9524998" cy="1499627"/>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3200"/>
              <a:buFont typeface="Arial"/>
              <a:buNone/>
            </a:pPr>
            <a:r>
              <a:rPr b="0" i="0" lang="en-US" sz="3200" u="none" cap="none" strike="noStrike">
                <a:solidFill>
                  <a:schemeClr val="dk1"/>
                </a:solidFill>
                <a:latin typeface="Arial"/>
                <a:ea typeface="Arial"/>
                <a:cs typeface="Arial"/>
                <a:sym typeface="Arial"/>
              </a:rPr>
              <a:t>TEAM DECISION ON WHETHER TO SELL THE BUSINESS OR NOT AND RATIONALE</a:t>
            </a:r>
            <a:endParaRPr b="0" i="0" sz="3200" u="none" cap="none" strike="noStrike">
              <a:solidFill>
                <a:schemeClr val="dk1"/>
              </a:solidFill>
              <a:latin typeface="Arial"/>
              <a:ea typeface="Arial"/>
              <a:cs typeface="Arial"/>
              <a:sym typeface="Arial"/>
            </a:endParaRPr>
          </a:p>
        </p:txBody>
      </p:sp>
      <p:sp>
        <p:nvSpPr>
          <p:cNvPr id="252" name="Google Shape;252;p19"/>
          <p:cNvSpPr txBox="1"/>
          <p:nvPr>
            <p:ph idx="1" type="body"/>
          </p:nvPr>
        </p:nvSpPr>
        <p:spPr>
          <a:xfrm>
            <a:off x="914399" y="2022250"/>
            <a:ext cx="6257366" cy="3914910"/>
          </a:xfrm>
          <a:prstGeom prst="rect">
            <a:avLst/>
          </a:prstGeom>
          <a:noFill/>
          <a:ln>
            <a:noFill/>
          </a:ln>
        </p:spPr>
        <p:txBody>
          <a:bodyPr anchorCtr="0" anchor="t" bIns="45700" lIns="91425" spcFirstLastPara="1" rIns="91425" wrap="square" tIns="45700">
            <a:normAutofit fontScale="55000" lnSpcReduction="20000"/>
          </a:bodyPr>
          <a:lstStyle/>
          <a:p>
            <a:pPr indent="0" lvl="0" marL="0" rtl="0" algn="l">
              <a:lnSpc>
                <a:spcPct val="90000"/>
              </a:lnSpc>
              <a:spcBef>
                <a:spcPts val="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Decision: Proceed with the sale.</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Rationale:</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Strong offer with a significant premium that maximizes shareholder value.</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Structured transition via 3-year consulting ensures continuity and knowledge transfer.</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Access to greater capital and scale supports global growth potential.</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Reduces risk amid uncertain global economic conditions.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Limited long-term impact on workforce; most roles are short-term student positions.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Enables reinvestment into new ventures that can create jobs and broader global impact.</a:t>
            </a:r>
            <a:endParaRPr/>
          </a:p>
          <a:p>
            <a:pPr indent="0" lvl="0" marL="0" rtl="0" algn="l">
              <a:lnSpc>
                <a:spcPct val="90000"/>
              </a:lnSpc>
              <a:spcBef>
                <a:spcPts val="1200"/>
              </a:spcBef>
              <a:spcAft>
                <a:spcPts val="0"/>
              </a:spcAft>
              <a:buClr>
                <a:schemeClr val="dk1"/>
              </a:buClr>
              <a:buSzPct val="100000"/>
              <a:buNone/>
            </a:pPr>
            <a:r>
              <a:rPr b="0" i="0" lang="en-US" sz="2000" u="none" cap="none" strike="noStrike">
                <a:solidFill>
                  <a:schemeClr val="dk1"/>
                </a:solidFill>
                <a:latin typeface="Arial"/>
                <a:ea typeface="Arial"/>
                <a:cs typeface="Arial"/>
                <a:sym typeface="Arial"/>
              </a:rPr>
              <a:t>Commitments:</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Follow a fair, transparent process for all stakeholders worldwide.</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Provide equitable severance and job placement support.</a:t>
            </a:r>
            <a:endParaRPr/>
          </a:p>
          <a:p>
            <a:pPr indent="-228600" lvl="1" marL="228600" marR="0" rtl="0" algn="l">
              <a:lnSpc>
                <a:spcPct val="90000"/>
              </a:lnSpc>
              <a:spcBef>
                <a:spcPts val="1200"/>
              </a:spcBef>
              <a:spcAft>
                <a:spcPts val="0"/>
              </a:spcAft>
              <a:buClr>
                <a:schemeClr val="dk1"/>
              </a:buClr>
              <a:buSzPct val="100000"/>
              <a:buFont typeface="Arial"/>
              <a:buChar char="•"/>
            </a:pPr>
            <a:r>
              <a:rPr b="0" i="0" lang="en-US" sz="2000" u="none" cap="none" strike="noStrike">
                <a:solidFill>
                  <a:schemeClr val="dk1"/>
                </a:solidFill>
                <a:latin typeface="Arial"/>
                <a:ea typeface="Arial"/>
                <a:cs typeface="Arial"/>
                <a:sym typeface="Arial"/>
              </a:rPr>
              <a:t>Honor existing international agreements and uphold CSR standards.</a:t>
            </a:r>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253" name="Google Shape;253;p19"/>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pic>
        <p:nvPicPr>
          <p:cNvPr id="254" name="Google Shape;254;p19"/>
          <p:cNvPicPr preferRelativeResize="0"/>
          <p:nvPr>
            <p:ph idx="2" type="body"/>
          </p:nvPr>
        </p:nvPicPr>
        <p:blipFill rotWithShape="1">
          <a:blip r:embed="rId3">
            <a:alphaModFix/>
          </a:blip>
          <a:srcRect b="0" l="0" r="0" t="0"/>
          <a:stretch/>
        </p:blipFill>
        <p:spPr>
          <a:xfrm>
            <a:off x="7647094" y="2022249"/>
            <a:ext cx="3914909" cy="391490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20"/>
          <p:cNvSpPr txBox="1"/>
          <p:nvPr>
            <p:ph type="title"/>
          </p:nvPr>
        </p:nvSpPr>
        <p:spPr>
          <a:xfrm>
            <a:off x="797397" y="920840"/>
            <a:ext cx="9524998" cy="190089"/>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Arial"/>
              <a:buNone/>
            </a:pPr>
            <a:r>
              <a:rPr b="0" i="0" lang="en-US" sz="3200" u="none" cap="none" strike="noStrike">
                <a:solidFill>
                  <a:schemeClr val="dk1"/>
                </a:solidFill>
                <a:latin typeface="Arial"/>
                <a:ea typeface="Arial"/>
                <a:cs typeface="Arial"/>
                <a:sym typeface="Arial"/>
              </a:rPr>
              <a:t>WHY OUR BUSINESS HAS BEEN SUCCESSFUL</a:t>
            </a:r>
            <a:br>
              <a:rPr b="0" i="0" lang="en-US" sz="3200" u="none" cap="none" strike="noStrike">
                <a:solidFill>
                  <a:schemeClr val="dk1"/>
                </a:solidFill>
                <a:latin typeface="Arial"/>
                <a:ea typeface="Arial"/>
                <a:cs typeface="Arial"/>
                <a:sym typeface="Arial"/>
              </a:rPr>
            </a:br>
            <a:br>
              <a:rPr b="0" i="0" lang="en-US" sz="3200" u="none" cap="none" strike="noStrike">
                <a:solidFill>
                  <a:schemeClr val="dk1"/>
                </a:solidFill>
                <a:latin typeface="Arial"/>
                <a:ea typeface="Arial"/>
                <a:cs typeface="Arial"/>
                <a:sym typeface="Arial"/>
              </a:rPr>
            </a:br>
            <a:endParaRPr b="0" i="0" sz="3200" u="none" cap="none" strike="noStrike">
              <a:solidFill>
                <a:schemeClr val="dk1"/>
              </a:solidFill>
              <a:latin typeface="Arial"/>
              <a:ea typeface="Arial"/>
              <a:cs typeface="Arial"/>
              <a:sym typeface="Arial"/>
            </a:endParaRPr>
          </a:p>
        </p:txBody>
      </p:sp>
      <p:sp>
        <p:nvSpPr>
          <p:cNvPr id="261" name="Google Shape;261;p20"/>
          <p:cNvSpPr txBox="1"/>
          <p:nvPr>
            <p:ph idx="1" type="body"/>
          </p:nvPr>
        </p:nvSpPr>
        <p:spPr>
          <a:xfrm>
            <a:off x="914399" y="1265504"/>
            <a:ext cx="5265684" cy="4980749"/>
          </a:xfrm>
          <a:prstGeom prst="rect">
            <a:avLst/>
          </a:prstGeom>
          <a:noFill/>
          <a:ln>
            <a:noFill/>
          </a:ln>
        </p:spPr>
        <p:txBody>
          <a:bodyPr anchorCtr="0" anchor="t" bIns="45700" lIns="91425" spcFirstLastPara="1" rIns="91425" wrap="square" tIns="45700">
            <a:normAutofit fontScale="92500" lnSpcReduction="20000"/>
          </a:bodyPr>
          <a:lstStyle/>
          <a:p>
            <a:pPr indent="0" lvl="0" marL="0" rtl="0" algn="l">
              <a:lnSpc>
                <a:spcPct val="90000"/>
              </a:lnSpc>
              <a:spcBef>
                <a:spcPts val="0"/>
              </a:spcBef>
              <a:spcAft>
                <a:spcPts val="0"/>
              </a:spcAft>
              <a:buClr>
                <a:schemeClr val="dk1"/>
              </a:buClr>
              <a:buSzPct val="100000"/>
              <a:buNone/>
            </a:pPr>
            <a:r>
              <a:rPr b="1" i="0" lang="en-US" sz="2000" u="none" cap="none" strike="noStrike">
                <a:solidFill>
                  <a:schemeClr val="dk1"/>
                </a:solidFill>
                <a:latin typeface="Arial"/>
                <a:ea typeface="Arial"/>
                <a:cs typeface="Arial"/>
                <a:sym typeface="Arial"/>
              </a:rPr>
              <a:t>Clear Value Proposition</a:t>
            </a:r>
            <a:endParaRPr/>
          </a:p>
          <a:p>
            <a:pPr indent="-228600" lvl="1" marL="228600" marR="0" rtl="0" algn="l">
              <a:lnSpc>
                <a:spcPct val="90000"/>
              </a:lnSpc>
              <a:spcBef>
                <a:spcPts val="1200"/>
              </a:spcBef>
              <a:spcAft>
                <a:spcPts val="0"/>
              </a:spcAft>
              <a:buClr>
                <a:schemeClr val="dk1"/>
              </a:buClr>
              <a:buSzPct val="100000"/>
              <a:buFont typeface="Arial"/>
              <a:buChar char="•"/>
            </a:pPr>
            <a:r>
              <a:rPr b="1" i="0" lang="en-US" sz="2000" u="none" cap="none" strike="noStrike">
                <a:solidFill>
                  <a:schemeClr val="dk1"/>
                </a:solidFill>
                <a:latin typeface="Arial"/>
                <a:ea typeface="Arial"/>
                <a:cs typeface="Arial"/>
                <a:sym typeface="Arial"/>
              </a:rPr>
              <a:t>Affordable, convenient formalwear rentals; bundles (attire + tailoring + cleaning + delivery)</a:t>
            </a:r>
            <a:endParaRPr/>
          </a:p>
          <a:p>
            <a:pPr indent="-228600" lvl="1" marL="228600" marR="0" rtl="0" algn="l">
              <a:lnSpc>
                <a:spcPct val="90000"/>
              </a:lnSpc>
              <a:spcBef>
                <a:spcPts val="1200"/>
              </a:spcBef>
              <a:spcAft>
                <a:spcPts val="0"/>
              </a:spcAft>
              <a:buClr>
                <a:schemeClr val="dk1"/>
              </a:buClr>
              <a:buSzPct val="100000"/>
              <a:buFont typeface="Arial"/>
              <a:buChar char="•"/>
            </a:pPr>
            <a:r>
              <a:rPr b="1" i="0" lang="en-US" sz="2000" u="none" cap="none" strike="noStrike">
                <a:solidFill>
                  <a:schemeClr val="dk1"/>
                </a:solidFill>
                <a:latin typeface="Arial"/>
                <a:ea typeface="Arial"/>
                <a:cs typeface="Arial"/>
                <a:sym typeface="Arial"/>
              </a:rPr>
              <a:t>Positive social impact via access and reuse (CSR/CSP)</a:t>
            </a:r>
            <a:endParaRPr/>
          </a:p>
          <a:p>
            <a:pPr indent="0" lvl="0" marL="0" rtl="0" algn="l">
              <a:lnSpc>
                <a:spcPct val="90000"/>
              </a:lnSpc>
              <a:spcBef>
                <a:spcPts val="1200"/>
              </a:spcBef>
              <a:spcAft>
                <a:spcPts val="0"/>
              </a:spcAft>
              <a:buClr>
                <a:schemeClr val="dk1"/>
              </a:buClr>
              <a:buSzPct val="100000"/>
              <a:buNone/>
            </a:pPr>
            <a:r>
              <a:rPr b="1" i="0" lang="en-US" sz="2000" u="none" cap="none" strike="noStrike">
                <a:solidFill>
                  <a:schemeClr val="dk1"/>
                </a:solidFill>
                <a:latin typeface="Arial"/>
                <a:ea typeface="Arial"/>
                <a:cs typeface="Arial"/>
                <a:sym typeface="Arial"/>
              </a:rPr>
              <a:t>Strong Operations</a:t>
            </a:r>
            <a:endParaRPr/>
          </a:p>
          <a:p>
            <a:pPr indent="-228600" lvl="1" marL="228600" marR="0" rtl="0" algn="l">
              <a:lnSpc>
                <a:spcPct val="90000"/>
              </a:lnSpc>
              <a:spcBef>
                <a:spcPts val="1200"/>
              </a:spcBef>
              <a:spcAft>
                <a:spcPts val="0"/>
              </a:spcAft>
              <a:buClr>
                <a:schemeClr val="dk1"/>
              </a:buClr>
              <a:buSzPct val="100000"/>
              <a:buFont typeface="Arial"/>
              <a:buChar char="•"/>
            </a:pPr>
            <a:r>
              <a:rPr b="1" i="0" lang="en-US" sz="2000" u="none" cap="none" strike="noStrike">
                <a:solidFill>
                  <a:schemeClr val="dk1"/>
                </a:solidFill>
                <a:latin typeface="Arial"/>
                <a:ea typeface="Arial"/>
                <a:cs typeface="Arial"/>
                <a:sym typeface="Arial"/>
              </a:rPr>
              <a:t>Diversified suppliers; partner cleaning/tailoring; reliable logistics and campus networks</a:t>
            </a:r>
            <a:endParaRPr/>
          </a:p>
          <a:p>
            <a:pPr indent="-228600" lvl="1" marL="228600" marR="0" rtl="0" algn="l">
              <a:lnSpc>
                <a:spcPct val="90000"/>
              </a:lnSpc>
              <a:spcBef>
                <a:spcPts val="1200"/>
              </a:spcBef>
              <a:spcAft>
                <a:spcPts val="0"/>
              </a:spcAft>
              <a:buClr>
                <a:schemeClr val="dk1"/>
              </a:buClr>
              <a:buSzPct val="100000"/>
              <a:buFont typeface="Arial"/>
              <a:buChar char="•"/>
            </a:pPr>
            <a:r>
              <a:rPr b="1" i="0" lang="en-US" sz="2000" u="none" cap="none" strike="noStrike">
                <a:solidFill>
                  <a:schemeClr val="dk1"/>
                </a:solidFill>
                <a:latin typeface="Arial"/>
                <a:ea typeface="Arial"/>
                <a:cs typeface="Arial"/>
                <a:sym typeface="Arial"/>
              </a:rPr>
              <a:t>Simple cycle: source → book → fulfill → return/clean → redeploy (high utilization)</a:t>
            </a:r>
            <a:endParaRPr/>
          </a:p>
          <a:p>
            <a:pPr indent="0" lvl="0" marL="0" rtl="0" algn="l">
              <a:lnSpc>
                <a:spcPct val="90000"/>
              </a:lnSpc>
              <a:spcBef>
                <a:spcPts val="1200"/>
              </a:spcBef>
              <a:spcAft>
                <a:spcPts val="0"/>
              </a:spcAft>
              <a:buClr>
                <a:schemeClr val="dk1"/>
              </a:buClr>
              <a:buSzPct val="100000"/>
              <a:buNone/>
            </a:pPr>
            <a:r>
              <a:rPr b="1" i="0" lang="en-US" sz="2000" u="none" cap="none" strike="noStrike">
                <a:solidFill>
                  <a:schemeClr val="dk1"/>
                </a:solidFill>
                <a:latin typeface="Arial"/>
                <a:ea typeface="Arial"/>
                <a:cs typeface="Arial"/>
                <a:sym typeface="Arial"/>
              </a:rPr>
              <a:t>Customer Focus</a:t>
            </a:r>
            <a:endParaRPr/>
          </a:p>
          <a:p>
            <a:pPr indent="-228600" lvl="1" marL="228600" marR="0" rtl="0" algn="l">
              <a:lnSpc>
                <a:spcPct val="90000"/>
              </a:lnSpc>
              <a:spcBef>
                <a:spcPts val="1200"/>
              </a:spcBef>
              <a:spcAft>
                <a:spcPts val="0"/>
              </a:spcAft>
              <a:buClr>
                <a:schemeClr val="dk1"/>
              </a:buClr>
              <a:buSzPct val="100000"/>
              <a:buFont typeface="Arial"/>
              <a:buChar char="•"/>
            </a:pPr>
            <a:r>
              <a:rPr b="1" i="0" lang="en-US" sz="2000" u="none" cap="none" strike="noStrike">
                <a:solidFill>
                  <a:schemeClr val="dk1"/>
                </a:solidFill>
                <a:latin typeface="Arial"/>
                <a:ea typeface="Arial"/>
                <a:cs typeface="Arial"/>
                <a:sym typeface="Arial"/>
              </a:rPr>
              <a:t>Core segments: students, orgs, staff; event-driven demand (career fairs, formals)</a:t>
            </a:r>
            <a:endParaRPr/>
          </a:p>
          <a:p>
            <a:pPr indent="0" lvl="0" marL="0" marR="0" rtl="0" algn="l">
              <a:lnSpc>
                <a:spcPct val="90000"/>
              </a:lnSpc>
              <a:spcBef>
                <a:spcPts val="1200"/>
              </a:spcBef>
              <a:spcAft>
                <a:spcPts val="0"/>
              </a:spcAft>
              <a:buClr>
                <a:schemeClr val="dk1"/>
              </a:buClr>
              <a:buSzPct val="100000"/>
              <a:buFont typeface="Arial"/>
              <a:buNone/>
            </a:pPr>
            <a:r>
              <a:t/>
            </a:r>
            <a:endParaRPr b="1" i="0" sz="2000" u="none" cap="none" strike="noStrike">
              <a:solidFill>
                <a:schemeClr val="dk1"/>
              </a:solidFill>
              <a:latin typeface="Arial"/>
              <a:ea typeface="Arial"/>
              <a:cs typeface="Arial"/>
              <a:sym typeface="Arial"/>
            </a:endParaRPr>
          </a:p>
          <a:p>
            <a:pPr indent="0" lvl="0" marL="0" marR="0" rtl="0" algn="l">
              <a:lnSpc>
                <a:spcPct val="90000"/>
              </a:lnSpc>
              <a:spcBef>
                <a:spcPts val="1200"/>
              </a:spcBef>
              <a:spcAft>
                <a:spcPts val="0"/>
              </a:spcAft>
              <a:buClr>
                <a:schemeClr val="dk1"/>
              </a:buClr>
              <a:buSzPct val="100000"/>
              <a:buFont typeface="Arial"/>
              <a:buNone/>
            </a:pPr>
            <a:r>
              <a:t/>
            </a:r>
            <a:endParaRPr b="0" i="0" sz="2000" u="none" cap="none" strike="noStrike">
              <a:solidFill>
                <a:schemeClr val="dk1"/>
              </a:solidFill>
              <a:latin typeface="Arial"/>
              <a:ea typeface="Arial"/>
              <a:cs typeface="Arial"/>
              <a:sym typeface="Arial"/>
            </a:endParaRPr>
          </a:p>
        </p:txBody>
      </p:sp>
      <p:sp>
        <p:nvSpPr>
          <p:cNvPr id="262" name="Google Shape;262;p20"/>
          <p:cNvSpPr txBox="1"/>
          <p:nvPr>
            <p:ph idx="12" type="sldNum"/>
          </p:nvPr>
        </p:nvSpPr>
        <p:spPr>
          <a:xfrm>
            <a:off x="914400" y="6246254"/>
            <a:ext cx="631065" cy="296214"/>
          </a:xfrm>
          <a:prstGeom prst="rect">
            <a:avLst/>
          </a:prstGeom>
          <a:noFill/>
          <a:ln>
            <a:noFill/>
          </a:ln>
        </p:spPr>
        <p:txBody>
          <a:bodyPr anchorCtr="0" anchor="ctr"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200">
                <a:solidFill>
                  <a:schemeClr val="dk1"/>
                </a:solidFill>
                <a:latin typeface="Arial"/>
                <a:ea typeface="Arial"/>
                <a:cs typeface="Arial"/>
                <a:sym typeface="Arial"/>
              </a:rPr>
              <a:t>‹#›</a:t>
            </a:fld>
            <a:endParaRPr sz="1200">
              <a:solidFill>
                <a:schemeClr val="dk1"/>
              </a:solidFill>
              <a:latin typeface="Arial"/>
              <a:ea typeface="Arial"/>
              <a:cs typeface="Arial"/>
              <a:sym typeface="Arial"/>
            </a:endParaRPr>
          </a:p>
        </p:txBody>
      </p:sp>
      <p:sp>
        <p:nvSpPr>
          <p:cNvPr id="263" name="Google Shape;263;p20"/>
          <p:cNvSpPr txBox="1"/>
          <p:nvPr>
            <p:ph idx="2" type="body"/>
          </p:nvPr>
        </p:nvSpPr>
        <p:spPr>
          <a:xfrm>
            <a:off x="6350350" y="1166781"/>
            <a:ext cx="5000822" cy="4770379"/>
          </a:xfrm>
          <a:prstGeom prst="rect">
            <a:avLst/>
          </a:prstGeom>
          <a:noFill/>
          <a:ln>
            <a:noFill/>
          </a:ln>
        </p:spPr>
        <p:txBody>
          <a:bodyPr anchorCtr="0" anchor="t" bIns="45700" lIns="91425" spcFirstLastPara="1" rIns="91425" wrap="square" tIns="45700">
            <a:normAutofit fontScale="85000" lnSpcReduction="10000"/>
          </a:bodyPr>
          <a:lstStyle/>
          <a:p>
            <a:pPr indent="-228600" lvl="1" marL="411480" rtl="0" algn="l">
              <a:lnSpc>
                <a:spcPct val="90000"/>
              </a:lnSpc>
              <a:spcBef>
                <a:spcPts val="0"/>
              </a:spcBef>
              <a:spcAft>
                <a:spcPts val="0"/>
              </a:spcAft>
              <a:buClr>
                <a:schemeClr val="dk1"/>
              </a:buClr>
              <a:buSzPct val="100000"/>
              <a:buChar char="•"/>
            </a:pPr>
            <a:r>
              <a:rPr lang="en-US"/>
              <a:t>University partnerships amplify reach</a:t>
            </a:r>
            <a:endParaRPr/>
          </a:p>
          <a:p>
            <a:pPr indent="-228600" lvl="0" marL="228600" rtl="0" algn="l">
              <a:lnSpc>
                <a:spcPct val="90000"/>
              </a:lnSpc>
              <a:spcBef>
                <a:spcPts val="1200"/>
              </a:spcBef>
              <a:spcAft>
                <a:spcPts val="0"/>
              </a:spcAft>
              <a:buClr>
                <a:schemeClr val="dk1"/>
              </a:buClr>
              <a:buSzPct val="100000"/>
              <a:buChar char="•"/>
            </a:pPr>
            <a:r>
              <a:rPr lang="en-US"/>
              <a:t>Improvement Discipline</a:t>
            </a:r>
            <a:endParaRPr/>
          </a:p>
          <a:p>
            <a:pPr indent="-228600" lvl="1" marL="411480" rtl="0" algn="l">
              <a:lnSpc>
                <a:spcPct val="90000"/>
              </a:lnSpc>
              <a:spcBef>
                <a:spcPts val="1200"/>
              </a:spcBef>
              <a:spcAft>
                <a:spcPts val="0"/>
              </a:spcAft>
              <a:buClr>
                <a:schemeClr val="dk1"/>
              </a:buClr>
              <a:buSzPct val="100000"/>
              <a:buChar char="•"/>
            </a:pPr>
            <a:r>
              <a:rPr lang="en-US"/>
              <a:t>Target: +2% per event by end-2026 to meet benchmark</a:t>
            </a:r>
            <a:endParaRPr/>
          </a:p>
          <a:p>
            <a:pPr indent="-228600" lvl="1" marL="411480" rtl="0" algn="l">
              <a:lnSpc>
                <a:spcPct val="90000"/>
              </a:lnSpc>
              <a:spcBef>
                <a:spcPts val="1200"/>
              </a:spcBef>
              <a:spcAft>
                <a:spcPts val="0"/>
              </a:spcAft>
              <a:buClr>
                <a:schemeClr val="dk1"/>
              </a:buClr>
              <a:buSzPct val="100000"/>
              <a:buChar char="•"/>
            </a:pPr>
            <a:r>
              <a:rPr lang="en-US"/>
              <a:t>Levers: social + pre/post-event offers; ambassadors; streamlined booking; bundles</a:t>
            </a:r>
            <a:endParaRPr/>
          </a:p>
          <a:p>
            <a:pPr indent="-228600" lvl="1" marL="411480" rtl="0" algn="l">
              <a:lnSpc>
                <a:spcPct val="90000"/>
              </a:lnSpc>
              <a:spcBef>
                <a:spcPts val="1200"/>
              </a:spcBef>
              <a:spcAft>
                <a:spcPts val="0"/>
              </a:spcAft>
              <a:buClr>
                <a:schemeClr val="dk1"/>
              </a:buClr>
              <a:buSzPct val="100000"/>
              <a:buChar char="•"/>
            </a:pPr>
            <a:r>
              <a:rPr lang="en-US"/>
              <a:t>Feedback loop: QR/kiosks; 48-hour response</a:t>
            </a:r>
            <a:endParaRPr/>
          </a:p>
          <a:p>
            <a:pPr indent="-228600" lvl="0" marL="228600" rtl="0" algn="l">
              <a:lnSpc>
                <a:spcPct val="90000"/>
              </a:lnSpc>
              <a:spcBef>
                <a:spcPts val="1200"/>
              </a:spcBef>
              <a:spcAft>
                <a:spcPts val="0"/>
              </a:spcAft>
              <a:buClr>
                <a:schemeClr val="dk1"/>
              </a:buClr>
              <a:buSzPct val="100000"/>
              <a:buChar char="•"/>
            </a:pPr>
            <a:r>
              <a:rPr lang="en-US"/>
              <a:t>Governance &amp; Impact</a:t>
            </a:r>
            <a:endParaRPr/>
          </a:p>
          <a:p>
            <a:pPr indent="-228600" lvl="1" marL="411480" rtl="0" algn="l">
              <a:lnSpc>
                <a:spcPct val="90000"/>
              </a:lnSpc>
              <a:spcBef>
                <a:spcPts val="1200"/>
              </a:spcBef>
              <a:spcAft>
                <a:spcPts val="0"/>
              </a:spcAft>
              <a:buClr>
                <a:schemeClr val="dk1"/>
              </a:buClr>
              <a:buSzPct val="100000"/>
              <a:buChar char="•"/>
            </a:pPr>
            <a:r>
              <a:rPr lang="en-US"/>
              <a:t>Transparent, stakeholder-aligned decisions; honor agreements; fair employee support</a:t>
            </a:r>
            <a:endParaRPr/>
          </a:p>
          <a:p>
            <a:pPr indent="-228600" lvl="0" marL="228600" rtl="0" algn="l">
              <a:lnSpc>
                <a:spcPct val="90000"/>
              </a:lnSpc>
              <a:spcBef>
                <a:spcPts val="1200"/>
              </a:spcBef>
              <a:spcAft>
                <a:spcPts val="0"/>
              </a:spcAft>
              <a:buClr>
                <a:schemeClr val="dk1"/>
              </a:buClr>
              <a:buSzPct val="100000"/>
              <a:buChar char="•"/>
            </a:pPr>
            <a:r>
              <a:rPr lang="en-US"/>
              <a:t>Strategic Optionality</a:t>
            </a:r>
            <a:endParaRPr/>
          </a:p>
          <a:p>
            <a:pPr indent="-228600" lvl="1" marL="411480" rtl="0" algn="l">
              <a:lnSpc>
                <a:spcPct val="90000"/>
              </a:lnSpc>
              <a:spcBef>
                <a:spcPts val="1200"/>
              </a:spcBef>
              <a:spcAft>
                <a:spcPts val="0"/>
              </a:spcAft>
              <a:buClr>
                <a:schemeClr val="dk1"/>
              </a:buClr>
              <a:buSzPct val="100000"/>
              <a:buChar char="•"/>
            </a:pPr>
            <a:r>
              <a:rPr lang="en-US"/>
              <a:t>Proven premium buyer interest validates model</a:t>
            </a:r>
            <a:endParaRPr/>
          </a:p>
          <a:p>
            <a:pPr indent="-228600" lvl="1" marL="411480" rtl="0" algn="l">
              <a:lnSpc>
                <a:spcPct val="90000"/>
              </a:lnSpc>
              <a:spcBef>
                <a:spcPts val="1200"/>
              </a:spcBef>
              <a:spcAft>
                <a:spcPts val="0"/>
              </a:spcAft>
              <a:buClr>
                <a:schemeClr val="dk1"/>
              </a:buClr>
              <a:buSzPct val="100000"/>
              <a:buChar char="•"/>
            </a:pPr>
            <a:r>
              <a:rPr lang="en-US"/>
              <a:t>Transition/consulting preserves know-how; capital enables reinvestment and job creation</a:t>
            </a:r>
            <a:endParaRPr/>
          </a:p>
          <a:p>
            <a:pPr indent="-120650" lvl="0" marL="228600" rtl="0" algn="l">
              <a:lnSpc>
                <a:spcPct val="90000"/>
              </a:lnSpc>
              <a:spcBef>
                <a:spcPts val="1200"/>
              </a:spcBef>
              <a:spcAft>
                <a:spcPts val="0"/>
              </a:spcAft>
              <a:buClr>
                <a:schemeClr val="dk1"/>
              </a:buClr>
              <a:buSzPct val="100000"/>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268" name="Shape 268"/>
        <p:cNvGrpSpPr/>
        <p:nvPr/>
      </p:nvGrpSpPr>
      <p:grpSpPr>
        <a:xfrm>
          <a:off x="0" y="0"/>
          <a:ext cx="0" cy="0"/>
          <a:chOff x="0" y="0"/>
          <a:chExt cx="0" cy="0"/>
        </a:xfrm>
      </p:grpSpPr>
      <p:pic>
        <p:nvPicPr>
          <p:cNvPr id="269" name="Google Shape;269;p21"/>
          <p:cNvPicPr preferRelativeResize="0"/>
          <p:nvPr/>
        </p:nvPicPr>
        <p:blipFill rotWithShape="1">
          <a:blip r:embed="rId3">
            <a:alphaModFix/>
          </a:blip>
          <a:srcRect b="0" l="4151" r="18577" t="0"/>
          <a:stretch/>
        </p:blipFill>
        <p:spPr>
          <a:xfrm flipH="1">
            <a:off x="0" y="0"/>
            <a:ext cx="5181600" cy="6858000"/>
          </a:xfrm>
          <a:prstGeom prst="rect">
            <a:avLst/>
          </a:prstGeom>
          <a:noFill/>
          <a:ln>
            <a:noFill/>
          </a:ln>
        </p:spPr>
      </p:pic>
      <p:sp>
        <p:nvSpPr>
          <p:cNvPr id="270" name="Google Shape;270;p21"/>
          <p:cNvSpPr txBox="1"/>
          <p:nvPr>
            <p:ph type="title"/>
          </p:nvPr>
        </p:nvSpPr>
        <p:spPr>
          <a:xfrm>
            <a:off x="6091515" y="374090"/>
            <a:ext cx="5057104" cy="3624984"/>
          </a:xfrm>
          <a:prstGeom prst="rect">
            <a:avLst/>
          </a:prstGeom>
          <a:noFill/>
          <a:ln>
            <a:noFill/>
          </a:ln>
        </p:spPr>
        <p:txBody>
          <a:bodyPr anchorCtr="0" anchor="b" bIns="45700" lIns="91425" spcFirstLastPara="1" rIns="91425" wrap="square" tIns="45700">
            <a:normAutofit/>
          </a:bodyPr>
          <a:lstStyle/>
          <a:p>
            <a:pPr indent="0" lvl="0" marL="0" marR="0" rtl="0" algn="l">
              <a:lnSpc>
                <a:spcPct val="90000"/>
              </a:lnSpc>
              <a:spcBef>
                <a:spcPts val="0"/>
              </a:spcBef>
              <a:spcAft>
                <a:spcPts val="0"/>
              </a:spcAft>
              <a:buClr>
                <a:schemeClr val="lt1"/>
              </a:buClr>
              <a:buSzPts val="4800"/>
              <a:buFont typeface="Arial"/>
              <a:buNone/>
            </a:pPr>
            <a:r>
              <a:rPr b="0" i="0" lang="en-US" sz="4800" u="none" cap="none" strike="noStrike">
                <a:solidFill>
                  <a:schemeClr val="lt1"/>
                </a:solidFill>
                <a:latin typeface="Arial"/>
                <a:ea typeface="Arial"/>
                <a:cs typeface="Arial"/>
                <a:sym typeface="Arial"/>
              </a:rPr>
              <a:t>THANK YOU</a:t>
            </a:r>
            <a:endParaRPr b="0" i="0" sz="4800" u="none" cap="none" strike="noStrike">
              <a:solidFill>
                <a:schemeClr val="lt1"/>
              </a:solidFill>
              <a:latin typeface="Arial"/>
              <a:ea typeface="Arial"/>
              <a:cs typeface="Arial"/>
              <a:sym typeface="Arial"/>
            </a:endParaRPr>
          </a:p>
        </p:txBody>
      </p:sp>
      <p:pic>
        <p:nvPicPr>
          <p:cNvPr id="271" name="Google Shape;271;p21"/>
          <p:cNvPicPr preferRelativeResize="0"/>
          <p:nvPr/>
        </p:nvPicPr>
        <p:blipFill rotWithShape="1">
          <a:blip r:embed="rId4">
            <a:alphaModFix/>
          </a:blip>
          <a:srcRect b="0" l="0" r="0" t="0"/>
          <a:stretch/>
        </p:blipFill>
        <p:spPr>
          <a:xfrm>
            <a:off x="9017792" y="3954255"/>
            <a:ext cx="3040739" cy="295682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自定义">
  <a:themeElements>
    <a:clrScheme name="Custom 149">
      <a:dk1>
        <a:srgbClr val="000000"/>
      </a:dk1>
      <a:lt1>
        <a:srgbClr val="FFFFFF"/>
      </a:lt1>
      <a:dk2>
        <a:srgbClr val="44546A"/>
      </a:dk2>
      <a:lt2>
        <a:srgbClr val="E7E6E6"/>
      </a:lt2>
      <a:accent1>
        <a:srgbClr val="E9E6DF"/>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2025-11-05T02:35:52Z</dcterms:created>
  <dc:creator>Zhenyang Luo</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0x010100E3348A43FF6A2C4480BF345365978166</vt:lpwstr>
  </property>
</Properties>
</file>